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64" r:id="rId2"/>
    <p:sldId id="367" r:id="rId3"/>
    <p:sldId id="393" r:id="rId4"/>
    <p:sldId id="380" r:id="rId5"/>
    <p:sldId id="379" r:id="rId6"/>
    <p:sldId id="395" r:id="rId7"/>
    <p:sldId id="378" r:id="rId8"/>
    <p:sldId id="381" r:id="rId9"/>
    <p:sldId id="384" r:id="rId10"/>
    <p:sldId id="385" r:id="rId11"/>
    <p:sldId id="3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7D6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376A9-3982-0918-8A71-0DF2FA09BC0E}" v="7" dt="2025-07-14T17:48:13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ika Singh" userId="S::anshika@awinfracloud.com::aec85452-53ee-4e88-84f7-756a676f3fce" providerId="AD" clId="Web-{1A7376A9-3982-0918-8A71-0DF2FA09BC0E}"/>
    <pc:docChg chg="modSld">
      <pc:chgData name="Anshika Singh" userId="S::anshika@awinfracloud.com::aec85452-53ee-4e88-84f7-756a676f3fce" providerId="AD" clId="Web-{1A7376A9-3982-0918-8A71-0DF2FA09BC0E}" dt="2025-07-14T17:48:13.300" v="5" actId="20577"/>
      <pc:docMkLst>
        <pc:docMk/>
      </pc:docMkLst>
      <pc:sldChg chg="modSp">
        <pc:chgData name="Anshika Singh" userId="S::anshika@awinfracloud.com::aec85452-53ee-4e88-84f7-756a676f3fce" providerId="AD" clId="Web-{1A7376A9-3982-0918-8A71-0DF2FA09BC0E}" dt="2025-07-14T17:48:13.300" v="5" actId="20577"/>
        <pc:sldMkLst>
          <pc:docMk/>
          <pc:sldMk cId="1142143726" sldId="381"/>
        </pc:sldMkLst>
        <pc:spChg chg="mod">
          <ac:chgData name="Anshika Singh" userId="S::anshika@awinfracloud.com::aec85452-53ee-4e88-84f7-756a676f3fce" providerId="AD" clId="Web-{1A7376A9-3982-0918-8A71-0DF2FA09BC0E}" dt="2025-07-14T17:48:13.300" v="5" actId="20577"/>
          <ac:spMkLst>
            <pc:docMk/>
            <pc:sldMk cId="1142143726" sldId="381"/>
            <ac:spMk id="4" creationId="{E9871E80-4C38-4827-123B-539D85A742E5}"/>
          </ac:spMkLst>
        </pc:spChg>
      </pc:sldChg>
      <pc:sldChg chg="modSp">
        <pc:chgData name="Anshika Singh" userId="S::anshika@awinfracloud.com::aec85452-53ee-4e88-84f7-756a676f3fce" providerId="AD" clId="Web-{1A7376A9-3982-0918-8A71-0DF2FA09BC0E}" dt="2025-07-14T17:44:19.530" v="2" actId="20577"/>
        <pc:sldMkLst>
          <pc:docMk/>
          <pc:sldMk cId="1822247461" sldId="395"/>
        </pc:sldMkLst>
        <pc:spChg chg="mod">
          <ac:chgData name="Anshika Singh" userId="S::anshika@awinfracloud.com::aec85452-53ee-4e88-84f7-756a676f3fce" providerId="AD" clId="Web-{1A7376A9-3982-0918-8A71-0DF2FA09BC0E}" dt="2025-07-14T17:44:19.530" v="2" actId="20577"/>
          <ac:spMkLst>
            <pc:docMk/>
            <pc:sldMk cId="1822247461" sldId="395"/>
            <ac:spMk id="4" creationId="{622268EC-E3EA-5746-1180-9EAC586D3CE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5EAD5F-5C19-47EE-B07D-08A8BBBED09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03A7BC-CC9D-4A62-BAAD-CD3C2E7EE854}">
      <dgm:prSet/>
      <dgm:spPr/>
      <dgm:t>
        <a:bodyPr/>
        <a:lstStyle/>
        <a:p>
          <a:r>
            <a:rPr lang="en-US" b="0" i="0" baseline="0"/>
            <a:t>TRA provides a cloud-based solution to help Self-Insured Employers optimize healthcare costs, improve employee well-being, and make data-driven decisions through secure, scalable, and innovative features. Built with a microservices architecture, it ensures scalability, modularity, and robust security.</a:t>
          </a:r>
          <a:endParaRPr lang="en-IN"/>
        </a:p>
      </dgm:t>
    </dgm:pt>
    <dgm:pt modelId="{F630E1E3-0C36-4C45-920C-2E886FAFB9FF}" type="parTrans" cxnId="{E80A14F2-BA9A-411A-8F17-FB622C3A00B1}">
      <dgm:prSet/>
      <dgm:spPr/>
      <dgm:t>
        <a:bodyPr/>
        <a:lstStyle/>
        <a:p>
          <a:endParaRPr lang="en-IN"/>
        </a:p>
      </dgm:t>
    </dgm:pt>
    <dgm:pt modelId="{F1735F87-11AE-4CB4-BE79-F00FE4F26A01}" type="sibTrans" cxnId="{E80A14F2-BA9A-411A-8F17-FB622C3A00B1}">
      <dgm:prSet/>
      <dgm:spPr/>
      <dgm:t>
        <a:bodyPr/>
        <a:lstStyle/>
        <a:p>
          <a:endParaRPr lang="en-IN"/>
        </a:p>
      </dgm:t>
    </dgm:pt>
    <dgm:pt modelId="{77591AA0-5B3B-4217-8046-583FC829D290}" type="pres">
      <dgm:prSet presAssocID="{D55EAD5F-5C19-47EE-B07D-08A8BBBED096}" presName="Name0" presStyleCnt="0">
        <dgm:presLayoutVars>
          <dgm:dir/>
          <dgm:animLvl val="lvl"/>
          <dgm:resizeHandles val="exact"/>
        </dgm:presLayoutVars>
      </dgm:prSet>
      <dgm:spPr/>
    </dgm:pt>
    <dgm:pt modelId="{95A2D054-6E65-4F65-BFA3-D5DCA42F3425}" type="pres">
      <dgm:prSet presAssocID="{3E03A7BC-CC9D-4A62-BAAD-CD3C2E7EE854}" presName="linNode" presStyleCnt="0"/>
      <dgm:spPr/>
    </dgm:pt>
    <dgm:pt modelId="{1A3890AE-3867-48C5-8DD9-31A3BC598E59}" type="pres">
      <dgm:prSet presAssocID="{3E03A7BC-CC9D-4A62-BAAD-CD3C2E7EE854}" presName="parentText" presStyleLbl="node1" presStyleIdx="0" presStyleCnt="1" custScaleX="271042" custLinFactNeighborX="1121" custLinFactNeighborY="-25694">
        <dgm:presLayoutVars>
          <dgm:chMax val="1"/>
          <dgm:bulletEnabled val="1"/>
        </dgm:presLayoutVars>
      </dgm:prSet>
      <dgm:spPr/>
    </dgm:pt>
  </dgm:ptLst>
  <dgm:cxnLst>
    <dgm:cxn modelId="{B7B25C6F-1680-4077-BB8C-7DA7DDEA401C}" type="presOf" srcId="{D55EAD5F-5C19-47EE-B07D-08A8BBBED096}" destId="{77591AA0-5B3B-4217-8046-583FC829D290}" srcOrd="0" destOrd="0" presId="urn:microsoft.com/office/officeart/2005/8/layout/vList5"/>
    <dgm:cxn modelId="{DA5FEB96-86E8-486B-880B-048B891859A2}" type="presOf" srcId="{3E03A7BC-CC9D-4A62-BAAD-CD3C2E7EE854}" destId="{1A3890AE-3867-48C5-8DD9-31A3BC598E59}" srcOrd="0" destOrd="0" presId="urn:microsoft.com/office/officeart/2005/8/layout/vList5"/>
    <dgm:cxn modelId="{E80A14F2-BA9A-411A-8F17-FB622C3A00B1}" srcId="{D55EAD5F-5C19-47EE-B07D-08A8BBBED096}" destId="{3E03A7BC-CC9D-4A62-BAAD-CD3C2E7EE854}" srcOrd="0" destOrd="0" parTransId="{F630E1E3-0C36-4C45-920C-2E886FAFB9FF}" sibTransId="{F1735F87-11AE-4CB4-BE79-F00FE4F26A01}"/>
    <dgm:cxn modelId="{F8221B00-5DAC-4E8E-91FE-F25C2F4CE253}" type="presParOf" srcId="{77591AA0-5B3B-4217-8046-583FC829D290}" destId="{95A2D054-6E65-4F65-BFA3-D5DCA42F3425}" srcOrd="0" destOrd="0" presId="urn:microsoft.com/office/officeart/2005/8/layout/vList5"/>
    <dgm:cxn modelId="{7A3655E1-68CB-4078-BDFB-1490F5D361E8}" type="presParOf" srcId="{95A2D054-6E65-4F65-BFA3-D5DCA42F3425}" destId="{1A3890AE-3867-48C5-8DD9-31A3BC598E5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25F42-93D7-4323-969F-BA8FE09E054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136405-601E-44F0-A66F-300E183FD07A}">
      <dgm:prSet/>
      <dgm:spPr/>
      <dgm:t>
        <a:bodyPr/>
        <a:lstStyle/>
        <a:p>
          <a:r>
            <a:rPr lang="en-IN"/>
            <a:t>Customizable Dashboards</a:t>
          </a:r>
        </a:p>
      </dgm:t>
    </dgm:pt>
    <dgm:pt modelId="{8B1EAA8C-0E09-49C4-A4EC-2E6CAD967E33}" type="parTrans" cxnId="{8DAFBF45-10F3-472F-B267-D25CB8089A77}">
      <dgm:prSet/>
      <dgm:spPr/>
      <dgm:t>
        <a:bodyPr/>
        <a:lstStyle/>
        <a:p>
          <a:endParaRPr lang="en-IN"/>
        </a:p>
      </dgm:t>
    </dgm:pt>
    <dgm:pt modelId="{9EC40FC7-6730-42F6-84FA-70D4F3012FE1}" type="sibTrans" cxnId="{8DAFBF45-10F3-472F-B267-D25CB8089A77}">
      <dgm:prSet/>
      <dgm:spPr/>
      <dgm:t>
        <a:bodyPr/>
        <a:lstStyle/>
        <a:p>
          <a:endParaRPr lang="en-IN"/>
        </a:p>
      </dgm:t>
    </dgm:pt>
    <dgm:pt modelId="{9C9D76D1-02B4-4958-B06A-B92726769992}">
      <dgm:prSet/>
      <dgm:spPr/>
      <dgm:t>
        <a:bodyPr/>
        <a:lstStyle/>
        <a:p>
          <a:r>
            <a:rPr lang="en-IN"/>
            <a:t>Data Factory</a:t>
          </a:r>
        </a:p>
      </dgm:t>
    </dgm:pt>
    <dgm:pt modelId="{8E4489F1-04FB-44DF-8B40-C5E2D2CA2A45}" type="parTrans" cxnId="{444142AB-E7CD-4D7A-9C2C-F1BC7DE980DA}">
      <dgm:prSet/>
      <dgm:spPr/>
      <dgm:t>
        <a:bodyPr/>
        <a:lstStyle/>
        <a:p>
          <a:endParaRPr lang="en-IN"/>
        </a:p>
      </dgm:t>
    </dgm:pt>
    <dgm:pt modelId="{E338FB53-C2F6-4663-A124-BF1341804077}" type="sibTrans" cxnId="{444142AB-E7CD-4D7A-9C2C-F1BC7DE980DA}">
      <dgm:prSet/>
      <dgm:spPr/>
      <dgm:t>
        <a:bodyPr/>
        <a:lstStyle/>
        <a:p>
          <a:endParaRPr lang="en-IN"/>
        </a:p>
      </dgm:t>
    </dgm:pt>
    <dgm:pt modelId="{EC4A3098-8B1F-4BB5-8D07-1EE76B6B0E90}">
      <dgm:prSet/>
      <dgm:spPr/>
      <dgm:t>
        <a:bodyPr/>
        <a:lstStyle/>
        <a:p>
          <a:r>
            <a:rPr lang="en-IN"/>
            <a:t>Seamless Integration</a:t>
          </a:r>
        </a:p>
      </dgm:t>
    </dgm:pt>
    <dgm:pt modelId="{79D89316-9BCB-4481-B1AF-FA2AA609D5F9}" type="parTrans" cxnId="{9C4E339E-23C7-4C79-B79D-85BCDB576E42}">
      <dgm:prSet/>
      <dgm:spPr/>
      <dgm:t>
        <a:bodyPr/>
        <a:lstStyle/>
        <a:p>
          <a:endParaRPr lang="en-IN"/>
        </a:p>
      </dgm:t>
    </dgm:pt>
    <dgm:pt modelId="{59C61AA6-FBBE-4D1C-ADB4-9277F4E9A1D7}" type="sibTrans" cxnId="{9C4E339E-23C7-4C79-B79D-85BCDB576E42}">
      <dgm:prSet/>
      <dgm:spPr/>
      <dgm:t>
        <a:bodyPr/>
        <a:lstStyle/>
        <a:p>
          <a:endParaRPr lang="en-IN"/>
        </a:p>
      </dgm:t>
    </dgm:pt>
    <dgm:pt modelId="{1600D854-2115-418D-89F0-5B23BD381EAC}">
      <dgm:prSet/>
      <dgm:spPr/>
      <dgm:t>
        <a:bodyPr/>
        <a:lstStyle/>
        <a:p>
          <a:pPr algn="ctr">
            <a:buNone/>
          </a:pPr>
          <a:r>
            <a:rPr lang="en-IN"/>
            <a:t>Monitor healthcare performance and </a:t>
          </a:r>
          <a:r>
            <a:rPr lang="en-US"/>
            <a:t>gain actionable insights through tailored visuals</a:t>
          </a:r>
          <a:r>
            <a:rPr lang="en-IN"/>
            <a:t>.</a:t>
          </a:r>
        </a:p>
      </dgm:t>
    </dgm:pt>
    <dgm:pt modelId="{85913815-10B1-45A0-8D2E-B671D64E27D3}" type="parTrans" cxnId="{D6E97AA1-E55C-464F-B968-9CA1444D06D2}">
      <dgm:prSet/>
      <dgm:spPr/>
      <dgm:t>
        <a:bodyPr/>
        <a:lstStyle/>
        <a:p>
          <a:endParaRPr lang="en-IN"/>
        </a:p>
      </dgm:t>
    </dgm:pt>
    <dgm:pt modelId="{5DC091B6-33E0-4376-B46D-305BDCA580FA}" type="sibTrans" cxnId="{D6E97AA1-E55C-464F-B968-9CA1444D06D2}">
      <dgm:prSet/>
      <dgm:spPr/>
      <dgm:t>
        <a:bodyPr/>
        <a:lstStyle/>
        <a:p>
          <a:endParaRPr lang="en-IN"/>
        </a:p>
      </dgm:t>
    </dgm:pt>
    <dgm:pt modelId="{C2FD0FB0-65A3-4D75-ACE7-A9343259545F}">
      <dgm:prSet/>
      <dgm:spPr/>
      <dgm:t>
        <a:bodyPr/>
        <a:lstStyle/>
        <a:p>
          <a:r>
            <a:rPr lang="en-IN"/>
            <a:t>Insights Studio</a:t>
          </a:r>
        </a:p>
      </dgm:t>
    </dgm:pt>
    <dgm:pt modelId="{CA4F185D-1F00-4E40-856F-2A8E31AB34FC}" type="parTrans" cxnId="{B3312B06-697E-44A0-806D-4E3C7F5C0C41}">
      <dgm:prSet/>
      <dgm:spPr/>
      <dgm:t>
        <a:bodyPr/>
        <a:lstStyle/>
        <a:p>
          <a:endParaRPr lang="en-IN"/>
        </a:p>
      </dgm:t>
    </dgm:pt>
    <dgm:pt modelId="{2C56CCF7-FA61-4AD4-8F69-8DB8BC8F33FE}" type="sibTrans" cxnId="{B3312B06-697E-44A0-806D-4E3C7F5C0C41}">
      <dgm:prSet/>
      <dgm:spPr/>
      <dgm:t>
        <a:bodyPr/>
        <a:lstStyle/>
        <a:p>
          <a:endParaRPr lang="en-IN"/>
        </a:p>
      </dgm:t>
    </dgm:pt>
    <dgm:pt modelId="{599EAE9F-22F8-43B7-AD09-0A688EEB317F}">
      <dgm:prSet/>
      <dgm:spPr/>
      <dgm:t>
        <a:bodyPr/>
        <a:lstStyle/>
        <a:p>
          <a:pPr algn="ctr">
            <a:buNone/>
          </a:pPr>
          <a:r>
            <a:rPr lang="en-IN"/>
            <a:t>Centralized data management system for accurate data ingestion and validation.</a:t>
          </a:r>
        </a:p>
      </dgm:t>
    </dgm:pt>
    <dgm:pt modelId="{9178071E-EA68-4F5F-A6B8-AFEA6ED22BEA}" type="parTrans" cxnId="{1E7B4E25-17AA-4C6F-A0AF-605984D56CFC}">
      <dgm:prSet/>
      <dgm:spPr/>
      <dgm:t>
        <a:bodyPr/>
        <a:lstStyle/>
        <a:p>
          <a:endParaRPr lang="en-IN"/>
        </a:p>
      </dgm:t>
    </dgm:pt>
    <dgm:pt modelId="{E056F0BA-4E54-4946-BBA5-E65EBDF62449}" type="sibTrans" cxnId="{1E7B4E25-17AA-4C6F-A0AF-605984D56CFC}">
      <dgm:prSet/>
      <dgm:spPr/>
      <dgm:t>
        <a:bodyPr/>
        <a:lstStyle/>
        <a:p>
          <a:endParaRPr lang="en-IN"/>
        </a:p>
      </dgm:t>
    </dgm:pt>
    <dgm:pt modelId="{AE77DC7A-1E87-4C05-8725-94245600B038}">
      <dgm:prSet/>
      <dgm:spPr/>
      <dgm:t>
        <a:bodyPr/>
        <a:lstStyle/>
        <a:p>
          <a:pPr algn="ctr">
            <a:buNone/>
          </a:pPr>
          <a:r>
            <a:rPr lang="en-IN"/>
            <a:t>Create custom reports to optimize costs and improve outcomes.</a:t>
          </a:r>
        </a:p>
      </dgm:t>
    </dgm:pt>
    <dgm:pt modelId="{ABD6C036-E66A-4AF5-ABA6-59F3D8850F4A}" type="parTrans" cxnId="{D4C850D9-1F20-412D-B0DA-C22BA41E4FFA}">
      <dgm:prSet/>
      <dgm:spPr/>
      <dgm:t>
        <a:bodyPr/>
        <a:lstStyle/>
        <a:p>
          <a:endParaRPr lang="en-IN"/>
        </a:p>
      </dgm:t>
    </dgm:pt>
    <dgm:pt modelId="{519E11BA-B26D-47B9-B719-6FA5D077B735}" type="sibTrans" cxnId="{D4C850D9-1F20-412D-B0DA-C22BA41E4FFA}">
      <dgm:prSet/>
      <dgm:spPr/>
      <dgm:t>
        <a:bodyPr/>
        <a:lstStyle/>
        <a:p>
          <a:endParaRPr lang="en-IN"/>
        </a:p>
      </dgm:t>
    </dgm:pt>
    <dgm:pt modelId="{411B5F4E-F8F8-409D-90B3-42403FCA2245}">
      <dgm:prSet/>
      <dgm:spPr/>
      <dgm:t>
        <a:bodyPr/>
        <a:lstStyle/>
        <a:p>
          <a:pPr algn="ctr">
            <a:buNone/>
          </a:pPr>
          <a:r>
            <a:rPr lang="en-IN"/>
            <a:t>Effortless real-time data integration with external systems.</a:t>
          </a:r>
        </a:p>
      </dgm:t>
    </dgm:pt>
    <dgm:pt modelId="{8DDCA03F-A545-4657-8B1E-7BCDF2F55D88}" type="parTrans" cxnId="{D2FCDFAA-0F7B-43F3-91E1-EC0D47884283}">
      <dgm:prSet/>
      <dgm:spPr/>
      <dgm:t>
        <a:bodyPr/>
        <a:lstStyle/>
        <a:p>
          <a:endParaRPr lang="en-IN"/>
        </a:p>
      </dgm:t>
    </dgm:pt>
    <dgm:pt modelId="{81AA7C78-D353-4BE2-8D2C-7E5161DFE929}" type="sibTrans" cxnId="{D2FCDFAA-0F7B-43F3-91E1-EC0D47884283}">
      <dgm:prSet/>
      <dgm:spPr/>
      <dgm:t>
        <a:bodyPr/>
        <a:lstStyle/>
        <a:p>
          <a:endParaRPr lang="en-IN"/>
        </a:p>
      </dgm:t>
    </dgm:pt>
    <dgm:pt modelId="{DC2146C7-438A-4783-8D24-504671588E1E}" type="pres">
      <dgm:prSet presAssocID="{17A25F42-93D7-4323-969F-BA8FE09E0545}" presName="Name0" presStyleCnt="0">
        <dgm:presLayoutVars>
          <dgm:dir/>
          <dgm:animLvl val="lvl"/>
          <dgm:resizeHandles val="exact"/>
        </dgm:presLayoutVars>
      </dgm:prSet>
      <dgm:spPr/>
    </dgm:pt>
    <dgm:pt modelId="{66D386AD-6C9D-4BBA-B349-DE2C83DA6B6C}" type="pres">
      <dgm:prSet presAssocID="{BC136405-601E-44F0-A66F-300E183FD07A}" presName="linNode" presStyleCnt="0"/>
      <dgm:spPr/>
    </dgm:pt>
    <dgm:pt modelId="{87A5307F-4543-4DF7-9AD1-5A7FBB7EBA2F}" type="pres">
      <dgm:prSet presAssocID="{BC136405-601E-44F0-A66F-300E183FD07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55CA736-FA61-408C-87E0-F87256749E88}" type="pres">
      <dgm:prSet presAssocID="{BC136405-601E-44F0-A66F-300E183FD07A}" presName="descendantText" presStyleLbl="alignAccFollowNode1" presStyleIdx="0" presStyleCnt="4">
        <dgm:presLayoutVars>
          <dgm:bulletEnabled val="1"/>
        </dgm:presLayoutVars>
      </dgm:prSet>
      <dgm:spPr/>
    </dgm:pt>
    <dgm:pt modelId="{6860707C-5BF4-4ACD-A2C8-504F36AC3FC1}" type="pres">
      <dgm:prSet presAssocID="{9EC40FC7-6730-42F6-84FA-70D4F3012FE1}" presName="sp" presStyleCnt="0"/>
      <dgm:spPr/>
    </dgm:pt>
    <dgm:pt modelId="{3F2BCFA8-FD97-454D-AC1C-5BA16DFE84FE}" type="pres">
      <dgm:prSet presAssocID="{9C9D76D1-02B4-4958-B06A-B92726769992}" presName="linNode" presStyleCnt="0"/>
      <dgm:spPr/>
    </dgm:pt>
    <dgm:pt modelId="{56E7B45A-F7B0-4CD9-B15F-C33FD888B3C8}" type="pres">
      <dgm:prSet presAssocID="{9C9D76D1-02B4-4958-B06A-B9272676999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0033C0C-30E1-412B-AA14-4B963E10D4B9}" type="pres">
      <dgm:prSet presAssocID="{9C9D76D1-02B4-4958-B06A-B92726769992}" presName="descendantText" presStyleLbl="alignAccFollowNode1" presStyleIdx="1" presStyleCnt="4">
        <dgm:presLayoutVars>
          <dgm:bulletEnabled val="1"/>
        </dgm:presLayoutVars>
      </dgm:prSet>
      <dgm:spPr/>
    </dgm:pt>
    <dgm:pt modelId="{FC4AADA5-A8E8-4F37-B1CC-0F45B8D7166B}" type="pres">
      <dgm:prSet presAssocID="{E338FB53-C2F6-4663-A124-BF1341804077}" presName="sp" presStyleCnt="0"/>
      <dgm:spPr/>
    </dgm:pt>
    <dgm:pt modelId="{CE81D2A8-70A3-41E1-BEA0-73BB94FBDCAC}" type="pres">
      <dgm:prSet presAssocID="{C2FD0FB0-65A3-4D75-ACE7-A9343259545F}" presName="linNode" presStyleCnt="0"/>
      <dgm:spPr/>
    </dgm:pt>
    <dgm:pt modelId="{93950E42-18EC-4B77-AE62-D535DE6D81C8}" type="pres">
      <dgm:prSet presAssocID="{C2FD0FB0-65A3-4D75-ACE7-A9343259545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D337AC5-6B44-447F-BCB3-D5FC37839E8A}" type="pres">
      <dgm:prSet presAssocID="{C2FD0FB0-65A3-4D75-ACE7-A9343259545F}" presName="descendantText" presStyleLbl="alignAccFollowNode1" presStyleIdx="2" presStyleCnt="4">
        <dgm:presLayoutVars>
          <dgm:bulletEnabled val="1"/>
        </dgm:presLayoutVars>
      </dgm:prSet>
      <dgm:spPr/>
    </dgm:pt>
    <dgm:pt modelId="{90FD7253-09E3-48A0-A350-C11A0EC74797}" type="pres">
      <dgm:prSet presAssocID="{2C56CCF7-FA61-4AD4-8F69-8DB8BC8F33FE}" presName="sp" presStyleCnt="0"/>
      <dgm:spPr/>
    </dgm:pt>
    <dgm:pt modelId="{062AF7E9-CAE5-455D-907F-FBCF8858FBC4}" type="pres">
      <dgm:prSet presAssocID="{EC4A3098-8B1F-4BB5-8D07-1EE76B6B0E90}" presName="linNode" presStyleCnt="0"/>
      <dgm:spPr/>
    </dgm:pt>
    <dgm:pt modelId="{AEE16721-46F0-4247-8230-4CA4508E5080}" type="pres">
      <dgm:prSet presAssocID="{EC4A3098-8B1F-4BB5-8D07-1EE76B6B0E90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873FFEB-57DC-457A-8FBA-42FD7A024E32}" type="pres">
      <dgm:prSet presAssocID="{EC4A3098-8B1F-4BB5-8D07-1EE76B6B0E9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3312B06-697E-44A0-806D-4E3C7F5C0C41}" srcId="{17A25F42-93D7-4323-969F-BA8FE09E0545}" destId="{C2FD0FB0-65A3-4D75-ACE7-A9343259545F}" srcOrd="2" destOrd="0" parTransId="{CA4F185D-1F00-4E40-856F-2A8E31AB34FC}" sibTransId="{2C56CCF7-FA61-4AD4-8F69-8DB8BC8F33FE}"/>
    <dgm:cxn modelId="{1E7B4E25-17AA-4C6F-A0AF-605984D56CFC}" srcId="{9C9D76D1-02B4-4958-B06A-B92726769992}" destId="{599EAE9F-22F8-43B7-AD09-0A688EEB317F}" srcOrd="0" destOrd="0" parTransId="{9178071E-EA68-4F5F-A6B8-AFEA6ED22BEA}" sibTransId="{E056F0BA-4E54-4946-BBA5-E65EBDF62449}"/>
    <dgm:cxn modelId="{A4DB0A28-E553-41CB-957C-393CCE2A548C}" type="presOf" srcId="{17A25F42-93D7-4323-969F-BA8FE09E0545}" destId="{DC2146C7-438A-4783-8D24-504671588E1E}" srcOrd="0" destOrd="0" presId="urn:microsoft.com/office/officeart/2005/8/layout/vList5"/>
    <dgm:cxn modelId="{92F67561-EA7C-442C-9AC4-276E31F0D7A1}" type="presOf" srcId="{599EAE9F-22F8-43B7-AD09-0A688EEB317F}" destId="{90033C0C-30E1-412B-AA14-4B963E10D4B9}" srcOrd="0" destOrd="0" presId="urn:microsoft.com/office/officeart/2005/8/layout/vList5"/>
    <dgm:cxn modelId="{8DAFBF45-10F3-472F-B267-D25CB8089A77}" srcId="{17A25F42-93D7-4323-969F-BA8FE09E0545}" destId="{BC136405-601E-44F0-A66F-300E183FD07A}" srcOrd="0" destOrd="0" parTransId="{8B1EAA8C-0E09-49C4-A4EC-2E6CAD967E33}" sibTransId="{9EC40FC7-6730-42F6-84FA-70D4F3012FE1}"/>
    <dgm:cxn modelId="{E8D63766-0DE9-412D-ADC6-4DCC53623E95}" type="presOf" srcId="{BC136405-601E-44F0-A66F-300E183FD07A}" destId="{87A5307F-4543-4DF7-9AD1-5A7FBB7EBA2F}" srcOrd="0" destOrd="0" presId="urn:microsoft.com/office/officeart/2005/8/layout/vList5"/>
    <dgm:cxn modelId="{A45E944F-FE71-49A2-9BB8-D4C6AEE5CC65}" type="presOf" srcId="{411B5F4E-F8F8-409D-90B3-42403FCA2245}" destId="{D873FFEB-57DC-457A-8FBA-42FD7A024E32}" srcOrd="0" destOrd="0" presId="urn:microsoft.com/office/officeart/2005/8/layout/vList5"/>
    <dgm:cxn modelId="{E1F58D7F-39AA-44F8-B97A-90E40246804D}" type="presOf" srcId="{EC4A3098-8B1F-4BB5-8D07-1EE76B6B0E90}" destId="{AEE16721-46F0-4247-8230-4CA4508E5080}" srcOrd="0" destOrd="0" presId="urn:microsoft.com/office/officeart/2005/8/layout/vList5"/>
    <dgm:cxn modelId="{5AE7BC81-4790-4FBA-ACB2-0EF6ECC15277}" type="presOf" srcId="{C2FD0FB0-65A3-4D75-ACE7-A9343259545F}" destId="{93950E42-18EC-4B77-AE62-D535DE6D81C8}" srcOrd="0" destOrd="0" presId="urn:microsoft.com/office/officeart/2005/8/layout/vList5"/>
    <dgm:cxn modelId="{9C4E339E-23C7-4C79-B79D-85BCDB576E42}" srcId="{17A25F42-93D7-4323-969F-BA8FE09E0545}" destId="{EC4A3098-8B1F-4BB5-8D07-1EE76B6B0E90}" srcOrd="3" destOrd="0" parTransId="{79D89316-9BCB-4481-B1AF-FA2AA609D5F9}" sibTransId="{59C61AA6-FBBE-4D1C-ADB4-9277F4E9A1D7}"/>
    <dgm:cxn modelId="{D6E97AA1-E55C-464F-B968-9CA1444D06D2}" srcId="{BC136405-601E-44F0-A66F-300E183FD07A}" destId="{1600D854-2115-418D-89F0-5B23BD381EAC}" srcOrd="0" destOrd="0" parTransId="{85913815-10B1-45A0-8D2E-B671D64E27D3}" sibTransId="{5DC091B6-33E0-4376-B46D-305BDCA580FA}"/>
    <dgm:cxn modelId="{85D42CA4-80E6-4D21-B770-994F4E5D699E}" type="presOf" srcId="{AE77DC7A-1E87-4C05-8725-94245600B038}" destId="{AD337AC5-6B44-447F-BCB3-D5FC37839E8A}" srcOrd="0" destOrd="0" presId="urn:microsoft.com/office/officeart/2005/8/layout/vList5"/>
    <dgm:cxn modelId="{D2FCDFAA-0F7B-43F3-91E1-EC0D47884283}" srcId="{EC4A3098-8B1F-4BB5-8D07-1EE76B6B0E90}" destId="{411B5F4E-F8F8-409D-90B3-42403FCA2245}" srcOrd="0" destOrd="0" parTransId="{8DDCA03F-A545-4657-8B1E-7BCDF2F55D88}" sibTransId="{81AA7C78-D353-4BE2-8D2C-7E5161DFE929}"/>
    <dgm:cxn modelId="{444142AB-E7CD-4D7A-9C2C-F1BC7DE980DA}" srcId="{17A25F42-93D7-4323-969F-BA8FE09E0545}" destId="{9C9D76D1-02B4-4958-B06A-B92726769992}" srcOrd="1" destOrd="0" parTransId="{8E4489F1-04FB-44DF-8B40-C5E2D2CA2A45}" sibTransId="{E338FB53-C2F6-4663-A124-BF1341804077}"/>
    <dgm:cxn modelId="{D4C850D9-1F20-412D-B0DA-C22BA41E4FFA}" srcId="{C2FD0FB0-65A3-4D75-ACE7-A9343259545F}" destId="{AE77DC7A-1E87-4C05-8725-94245600B038}" srcOrd="0" destOrd="0" parTransId="{ABD6C036-E66A-4AF5-ABA6-59F3D8850F4A}" sibTransId="{519E11BA-B26D-47B9-B719-6FA5D077B735}"/>
    <dgm:cxn modelId="{E008ADF3-1B77-4DDB-A6B3-3936D879A4A1}" type="presOf" srcId="{9C9D76D1-02B4-4958-B06A-B92726769992}" destId="{56E7B45A-F7B0-4CD9-B15F-C33FD888B3C8}" srcOrd="0" destOrd="0" presId="urn:microsoft.com/office/officeart/2005/8/layout/vList5"/>
    <dgm:cxn modelId="{6A72D6F6-131D-43A5-AA96-873D172513D2}" type="presOf" srcId="{1600D854-2115-418D-89F0-5B23BD381EAC}" destId="{055CA736-FA61-408C-87E0-F87256749E88}" srcOrd="0" destOrd="0" presId="urn:microsoft.com/office/officeart/2005/8/layout/vList5"/>
    <dgm:cxn modelId="{34F6FA13-5483-44BC-8655-FC5931E2CD15}" type="presParOf" srcId="{DC2146C7-438A-4783-8D24-504671588E1E}" destId="{66D386AD-6C9D-4BBA-B349-DE2C83DA6B6C}" srcOrd="0" destOrd="0" presId="urn:microsoft.com/office/officeart/2005/8/layout/vList5"/>
    <dgm:cxn modelId="{12A87ADF-4412-4BAE-93CB-D63F8E4E23A5}" type="presParOf" srcId="{66D386AD-6C9D-4BBA-B349-DE2C83DA6B6C}" destId="{87A5307F-4543-4DF7-9AD1-5A7FBB7EBA2F}" srcOrd="0" destOrd="0" presId="urn:microsoft.com/office/officeart/2005/8/layout/vList5"/>
    <dgm:cxn modelId="{12C89874-0EB9-4FE4-A49F-6C1FBDFC2203}" type="presParOf" srcId="{66D386AD-6C9D-4BBA-B349-DE2C83DA6B6C}" destId="{055CA736-FA61-408C-87E0-F87256749E88}" srcOrd="1" destOrd="0" presId="urn:microsoft.com/office/officeart/2005/8/layout/vList5"/>
    <dgm:cxn modelId="{96E2607E-0BB9-435F-B6FA-C99D5C5FD4B7}" type="presParOf" srcId="{DC2146C7-438A-4783-8D24-504671588E1E}" destId="{6860707C-5BF4-4ACD-A2C8-504F36AC3FC1}" srcOrd="1" destOrd="0" presId="urn:microsoft.com/office/officeart/2005/8/layout/vList5"/>
    <dgm:cxn modelId="{738F5384-315A-486B-A2D2-82E6817DA202}" type="presParOf" srcId="{DC2146C7-438A-4783-8D24-504671588E1E}" destId="{3F2BCFA8-FD97-454D-AC1C-5BA16DFE84FE}" srcOrd="2" destOrd="0" presId="urn:microsoft.com/office/officeart/2005/8/layout/vList5"/>
    <dgm:cxn modelId="{E6F1DC28-40C1-4997-9B1E-83423F40260A}" type="presParOf" srcId="{3F2BCFA8-FD97-454D-AC1C-5BA16DFE84FE}" destId="{56E7B45A-F7B0-4CD9-B15F-C33FD888B3C8}" srcOrd="0" destOrd="0" presId="urn:microsoft.com/office/officeart/2005/8/layout/vList5"/>
    <dgm:cxn modelId="{1C3B18C2-4AD2-4AEB-94FF-F03CDF04F391}" type="presParOf" srcId="{3F2BCFA8-FD97-454D-AC1C-5BA16DFE84FE}" destId="{90033C0C-30E1-412B-AA14-4B963E10D4B9}" srcOrd="1" destOrd="0" presId="urn:microsoft.com/office/officeart/2005/8/layout/vList5"/>
    <dgm:cxn modelId="{4FAE5695-44BA-4322-84F7-FA65A8AFC837}" type="presParOf" srcId="{DC2146C7-438A-4783-8D24-504671588E1E}" destId="{FC4AADA5-A8E8-4F37-B1CC-0F45B8D7166B}" srcOrd="3" destOrd="0" presId="urn:microsoft.com/office/officeart/2005/8/layout/vList5"/>
    <dgm:cxn modelId="{4D029F7D-60F5-4C4B-8209-5B3497F72197}" type="presParOf" srcId="{DC2146C7-438A-4783-8D24-504671588E1E}" destId="{CE81D2A8-70A3-41E1-BEA0-73BB94FBDCAC}" srcOrd="4" destOrd="0" presId="urn:microsoft.com/office/officeart/2005/8/layout/vList5"/>
    <dgm:cxn modelId="{3BBC39BB-A91F-4582-953E-C6DF6CD94EA1}" type="presParOf" srcId="{CE81D2A8-70A3-41E1-BEA0-73BB94FBDCAC}" destId="{93950E42-18EC-4B77-AE62-D535DE6D81C8}" srcOrd="0" destOrd="0" presId="urn:microsoft.com/office/officeart/2005/8/layout/vList5"/>
    <dgm:cxn modelId="{1004BCF1-DF86-4F45-94BA-EB0E2F5D7C1E}" type="presParOf" srcId="{CE81D2A8-70A3-41E1-BEA0-73BB94FBDCAC}" destId="{AD337AC5-6B44-447F-BCB3-D5FC37839E8A}" srcOrd="1" destOrd="0" presId="urn:microsoft.com/office/officeart/2005/8/layout/vList5"/>
    <dgm:cxn modelId="{D16A56F6-92A6-4D45-B7BC-1C16EDEC60D9}" type="presParOf" srcId="{DC2146C7-438A-4783-8D24-504671588E1E}" destId="{90FD7253-09E3-48A0-A350-C11A0EC74797}" srcOrd="5" destOrd="0" presId="urn:microsoft.com/office/officeart/2005/8/layout/vList5"/>
    <dgm:cxn modelId="{A8730C33-DECB-4A3B-B7C3-9FDAA0D2794A}" type="presParOf" srcId="{DC2146C7-438A-4783-8D24-504671588E1E}" destId="{062AF7E9-CAE5-455D-907F-FBCF8858FBC4}" srcOrd="6" destOrd="0" presId="urn:microsoft.com/office/officeart/2005/8/layout/vList5"/>
    <dgm:cxn modelId="{06F4EE85-1DF6-4BC4-9379-76C2BAD9BF9A}" type="presParOf" srcId="{062AF7E9-CAE5-455D-907F-FBCF8858FBC4}" destId="{AEE16721-46F0-4247-8230-4CA4508E5080}" srcOrd="0" destOrd="0" presId="urn:microsoft.com/office/officeart/2005/8/layout/vList5"/>
    <dgm:cxn modelId="{D86A4731-BCB1-449E-8649-9E00DB4AC6E9}" type="presParOf" srcId="{062AF7E9-CAE5-455D-907F-FBCF8858FBC4}" destId="{D873FFEB-57DC-457A-8FBA-42FD7A024E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890AE-3867-48C5-8DD9-31A3BC598E59}">
      <dsp:nvSpPr>
        <dsp:cNvPr id="0" name=""/>
        <dsp:cNvSpPr/>
      </dsp:nvSpPr>
      <dsp:spPr>
        <a:xfrm>
          <a:off x="145654" y="0"/>
          <a:ext cx="8794706" cy="2438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TRA provides a cloud-based solution to help Self-Insured Employers optimize healthcare costs, improve employee well-being, and make data-driven decisions through secure, scalable, and innovative features. Built with a microservices architecture, it ensures scalability, modularity, and robust security.</a:t>
          </a:r>
          <a:endParaRPr lang="en-IN" sz="2300" kern="1200"/>
        </a:p>
      </dsp:txBody>
      <dsp:txXfrm>
        <a:off x="264687" y="119033"/>
        <a:ext cx="8556640" cy="22003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CA736-FA61-408C-87E0-F87256749E88}">
      <dsp:nvSpPr>
        <dsp:cNvPr id="0" name=""/>
        <dsp:cNvSpPr/>
      </dsp:nvSpPr>
      <dsp:spPr>
        <a:xfrm rot="5400000">
          <a:off x="6381235" y="-2648629"/>
          <a:ext cx="903135" cy="6430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300" kern="1200"/>
            <a:t>Monitor healthcare performance and </a:t>
          </a:r>
          <a:r>
            <a:rPr lang="en-US" sz="2300" kern="1200"/>
            <a:t>gain actionable insights through tailored visuals</a:t>
          </a:r>
          <a:r>
            <a:rPr lang="en-IN" sz="2300" kern="1200"/>
            <a:t>.</a:t>
          </a:r>
        </a:p>
      </dsp:txBody>
      <dsp:txXfrm rot="-5400000">
        <a:off x="3617367" y="159326"/>
        <a:ext cx="6386786" cy="814961"/>
      </dsp:txXfrm>
    </dsp:sp>
    <dsp:sp modelId="{87A5307F-4543-4DF7-9AD1-5A7FBB7EBA2F}">
      <dsp:nvSpPr>
        <dsp:cNvPr id="0" name=""/>
        <dsp:cNvSpPr/>
      </dsp:nvSpPr>
      <dsp:spPr>
        <a:xfrm>
          <a:off x="0" y="2347"/>
          <a:ext cx="3617366" cy="1128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Customizable Dashboards</a:t>
          </a:r>
        </a:p>
      </dsp:txBody>
      <dsp:txXfrm>
        <a:off x="55109" y="57456"/>
        <a:ext cx="3507148" cy="1018701"/>
      </dsp:txXfrm>
    </dsp:sp>
    <dsp:sp modelId="{90033C0C-30E1-412B-AA14-4B963E10D4B9}">
      <dsp:nvSpPr>
        <dsp:cNvPr id="0" name=""/>
        <dsp:cNvSpPr/>
      </dsp:nvSpPr>
      <dsp:spPr>
        <a:xfrm rot="5400000">
          <a:off x="6381235" y="-1463264"/>
          <a:ext cx="903135" cy="6430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300" kern="1200"/>
            <a:t>Centralized data management system for accurate data ingestion and validation.</a:t>
          </a:r>
        </a:p>
      </dsp:txBody>
      <dsp:txXfrm rot="-5400000">
        <a:off x="3617367" y="1344691"/>
        <a:ext cx="6386786" cy="814961"/>
      </dsp:txXfrm>
    </dsp:sp>
    <dsp:sp modelId="{56E7B45A-F7B0-4CD9-B15F-C33FD888B3C8}">
      <dsp:nvSpPr>
        <dsp:cNvPr id="0" name=""/>
        <dsp:cNvSpPr/>
      </dsp:nvSpPr>
      <dsp:spPr>
        <a:xfrm>
          <a:off x="0" y="1187712"/>
          <a:ext cx="3617366" cy="1128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Data Factory</a:t>
          </a:r>
        </a:p>
      </dsp:txBody>
      <dsp:txXfrm>
        <a:off x="55109" y="1242821"/>
        <a:ext cx="3507148" cy="1018701"/>
      </dsp:txXfrm>
    </dsp:sp>
    <dsp:sp modelId="{AD337AC5-6B44-447F-BCB3-D5FC37839E8A}">
      <dsp:nvSpPr>
        <dsp:cNvPr id="0" name=""/>
        <dsp:cNvSpPr/>
      </dsp:nvSpPr>
      <dsp:spPr>
        <a:xfrm rot="5400000">
          <a:off x="6381235" y="-277899"/>
          <a:ext cx="903135" cy="6430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300" kern="1200"/>
            <a:t>Create custom reports to optimize costs and improve outcomes.</a:t>
          </a:r>
        </a:p>
      </dsp:txBody>
      <dsp:txXfrm rot="-5400000">
        <a:off x="3617367" y="2530056"/>
        <a:ext cx="6386786" cy="814961"/>
      </dsp:txXfrm>
    </dsp:sp>
    <dsp:sp modelId="{93950E42-18EC-4B77-AE62-D535DE6D81C8}">
      <dsp:nvSpPr>
        <dsp:cNvPr id="0" name=""/>
        <dsp:cNvSpPr/>
      </dsp:nvSpPr>
      <dsp:spPr>
        <a:xfrm>
          <a:off x="0" y="2373077"/>
          <a:ext cx="3617366" cy="1128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Insights Studio</a:t>
          </a:r>
        </a:p>
      </dsp:txBody>
      <dsp:txXfrm>
        <a:off x="55109" y="2428186"/>
        <a:ext cx="3507148" cy="1018701"/>
      </dsp:txXfrm>
    </dsp:sp>
    <dsp:sp modelId="{D873FFEB-57DC-457A-8FBA-42FD7A024E32}">
      <dsp:nvSpPr>
        <dsp:cNvPr id="0" name=""/>
        <dsp:cNvSpPr/>
      </dsp:nvSpPr>
      <dsp:spPr>
        <a:xfrm rot="5400000">
          <a:off x="6381235" y="907466"/>
          <a:ext cx="903135" cy="6430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300" kern="1200"/>
            <a:t>Effortless real-time data integration with external systems.</a:t>
          </a:r>
        </a:p>
      </dsp:txBody>
      <dsp:txXfrm rot="-5400000">
        <a:off x="3617367" y="3715422"/>
        <a:ext cx="6386786" cy="814961"/>
      </dsp:txXfrm>
    </dsp:sp>
    <dsp:sp modelId="{AEE16721-46F0-4247-8230-4CA4508E5080}">
      <dsp:nvSpPr>
        <dsp:cNvPr id="0" name=""/>
        <dsp:cNvSpPr/>
      </dsp:nvSpPr>
      <dsp:spPr>
        <a:xfrm>
          <a:off x="0" y="3558443"/>
          <a:ext cx="3617366" cy="1128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Seamless Integration</a:t>
          </a:r>
        </a:p>
      </dsp:txBody>
      <dsp:txXfrm>
        <a:off x="55109" y="3613552"/>
        <a:ext cx="3507148" cy="1018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61161-705C-4771-BBA7-CD2A2C7C608D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C9331-571B-4235-B2C6-BFE12C45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1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C9331-571B-4235-B2C6-BFE12C45C0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747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37646" y="4918474"/>
            <a:ext cx="4431417" cy="95333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rgbClr val="F17D67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&lt;Presentation Name&gt;</a:t>
            </a:r>
          </a:p>
          <a:p>
            <a:pPr lvl="0"/>
            <a:r>
              <a:rPr lang="en-US"/>
              <a:t>&lt;Presentation Date&gt;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7137647" y="4558536"/>
            <a:ext cx="4431417" cy="0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66A5512-8472-5FC4-4CE2-7626E899C6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506" y="319474"/>
            <a:ext cx="3498158" cy="608916"/>
          </a:xfrm>
          <a:prstGeom prst="rect">
            <a:avLst/>
          </a:prstGeom>
        </p:spPr>
      </p:pic>
      <p:sp>
        <p:nvSpPr>
          <p:cNvPr id="5" name="Google Shape;88;p12">
            <a:extLst>
              <a:ext uri="{FF2B5EF4-FFF2-40B4-BE49-F238E27FC236}">
                <a16:creationId xmlns:a16="http://schemas.microsoft.com/office/drawing/2014/main" id="{7D78EE23-E3DE-D6E6-E021-2F4066C58801}"/>
              </a:ext>
            </a:extLst>
          </p:cNvPr>
          <p:cNvSpPr txBox="1">
            <a:spLocks/>
          </p:cNvSpPr>
          <p:nvPr userDrawn="1"/>
        </p:nvSpPr>
        <p:spPr>
          <a:xfrm>
            <a:off x="6168067" y="986189"/>
            <a:ext cx="3492061" cy="39846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i="0" u="sng" baseline="0">
                <a:solidFill>
                  <a:srgbClr val="F17D6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Driving Productivity Gains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1C7A2B9-A91F-02B4-647E-1DCC9A6286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070850" y="3165412"/>
            <a:ext cx="3492500" cy="1047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&lt;Client Logo Goes Here&gt;</a:t>
            </a:r>
          </a:p>
        </p:txBody>
      </p:sp>
      <p:pic>
        <p:nvPicPr>
          <p:cNvPr id="3" name="Picture 2" descr="A red and blue sign with white text&#10;&#10;Description automatically generated">
            <a:extLst>
              <a:ext uri="{FF2B5EF4-FFF2-40B4-BE49-F238E27FC236}">
                <a16:creationId xmlns:a16="http://schemas.microsoft.com/office/drawing/2014/main" id="{77B8F972-E746-CD0A-AA0F-4DDE7B9D3A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420" y="283133"/>
            <a:ext cx="618156" cy="105491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86189A-4188-686D-A1B5-3F7EF91EB4E8}"/>
              </a:ext>
            </a:extLst>
          </p:cNvPr>
          <p:cNvCxnSpPr>
            <a:cxnSpLocks/>
          </p:cNvCxnSpPr>
          <p:nvPr userDrawn="1"/>
        </p:nvCxnSpPr>
        <p:spPr>
          <a:xfrm>
            <a:off x="9888567" y="112078"/>
            <a:ext cx="0" cy="1274400"/>
          </a:xfrm>
          <a:prstGeom prst="line">
            <a:avLst/>
          </a:prstGeom>
          <a:ln w="381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blue shield with white text&#10;&#10;Description automatically generated">
            <a:extLst>
              <a:ext uri="{FF2B5EF4-FFF2-40B4-BE49-F238E27FC236}">
                <a16:creationId xmlns:a16="http://schemas.microsoft.com/office/drawing/2014/main" id="{91D269D6-8B17-CEE4-0604-7B1A7280D1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99" y="333922"/>
            <a:ext cx="867223" cy="95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7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Upto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4F9068E-58AA-8DE2-F3A8-CAF78249A2FC}"/>
              </a:ext>
            </a:extLst>
          </p:cNvPr>
          <p:cNvSpPr/>
          <p:nvPr userDrawn="1"/>
        </p:nvSpPr>
        <p:spPr>
          <a:xfrm>
            <a:off x="11443463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2" y="381001"/>
            <a:ext cx="7983889" cy="44805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620775" y="1348520"/>
            <a:ext cx="2743200" cy="0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776" y="2214904"/>
            <a:ext cx="27432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776" y="1606408"/>
            <a:ext cx="27432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4328021" y="1352511"/>
            <a:ext cx="2743200" cy="0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8020" y="2216824"/>
            <a:ext cx="27432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8020" y="1606408"/>
            <a:ext cx="27432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620775" y="3773262"/>
            <a:ext cx="2743200" cy="0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775" y="4641567"/>
            <a:ext cx="27432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775" y="4033071"/>
            <a:ext cx="27432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 flipV="1">
            <a:off x="4328021" y="3773262"/>
            <a:ext cx="27432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28019" y="4641567"/>
            <a:ext cx="27432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8019" y="4033071"/>
            <a:ext cx="27432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13;p2">
            <a:extLst>
              <a:ext uri="{FF2B5EF4-FFF2-40B4-BE49-F238E27FC236}">
                <a16:creationId xmlns:a16="http://schemas.microsoft.com/office/drawing/2014/main" id="{9B72D9F8-426B-DE2A-B045-63A5B3323849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32" name="Picture 31" descr="Logo&#10;&#10;Description automatically generated">
            <a:extLst>
              <a:ext uri="{FF2B5EF4-FFF2-40B4-BE49-F238E27FC236}">
                <a16:creationId xmlns:a16="http://schemas.microsoft.com/office/drawing/2014/main" id="{5B6D8D80-35FE-FD86-7276-E9A22728C8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AEF1194-C911-146A-DB51-519A6133AE55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0617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More than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4F9068E-58AA-8DE2-F3A8-CAF78249A2FC}"/>
              </a:ext>
            </a:extLst>
          </p:cNvPr>
          <p:cNvSpPr/>
          <p:nvPr userDrawn="1"/>
        </p:nvSpPr>
        <p:spPr>
          <a:xfrm>
            <a:off x="11443463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81001"/>
            <a:ext cx="8000145" cy="44805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620776" y="1333183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776" y="2216824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776" y="1608328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478276" y="1337636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8275" y="2216824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8275" y="1608328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620776" y="3492215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776" y="4375395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776" y="3766899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478276" y="3496207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8275" y="4375395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78275" y="3766899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13;p2">
            <a:extLst>
              <a:ext uri="{FF2B5EF4-FFF2-40B4-BE49-F238E27FC236}">
                <a16:creationId xmlns:a16="http://schemas.microsoft.com/office/drawing/2014/main" id="{9B72D9F8-426B-DE2A-B045-63A5B3323849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32" name="Picture 31" descr="Logo&#10;&#10;Description automatically generated">
            <a:extLst>
              <a:ext uri="{FF2B5EF4-FFF2-40B4-BE49-F238E27FC236}">
                <a16:creationId xmlns:a16="http://schemas.microsoft.com/office/drawing/2014/main" id="{5B6D8D80-35FE-FD86-7276-E9A22728C8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D0F88D6-25F4-1836-C39B-1177E0F25EBA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B1384A-6409-2708-5E36-F5BEF8D887EC}"/>
              </a:ext>
            </a:extLst>
          </p:cNvPr>
          <p:cNvCxnSpPr>
            <a:cxnSpLocks/>
          </p:cNvCxnSpPr>
          <p:nvPr userDrawn="1"/>
        </p:nvCxnSpPr>
        <p:spPr>
          <a:xfrm>
            <a:off x="6288532" y="1339668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7DAE2AB6-7CEE-A3DF-8466-38B5DD1E7D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8531" y="2218856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09158AA-53E4-18FC-1E70-4C86C9555C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8531" y="1610360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rgbClr val="F17D67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93486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36A2840-9185-9FD0-535D-7F964A497CE4}"/>
              </a:ext>
            </a:extLst>
          </p:cNvPr>
          <p:cNvSpPr/>
          <p:nvPr userDrawn="1"/>
        </p:nvSpPr>
        <p:spPr>
          <a:xfrm>
            <a:off x="11443463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6" name="Google Shape;13;p2">
            <a:extLst>
              <a:ext uri="{FF2B5EF4-FFF2-40B4-BE49-F238E27FC236}">
                <a16:creationId xmlns:a16="http://schemas.microsoft.com/office/drawing/2014/main" id="{F2854CB2-E61A-D9F6-4CFD-1E6160EC572C}"/>
              </a:ext>
            </a:extLst>
          </p:cNvPr>
          <p:cNvSpPr/>
          <p:nvPr userDrawn="1"/>
        </p:nvSpPr>
        <p:spPr>
          <a:xfrm>
            <a:off x="0" y="2"/>
            <a:ext cx="12192000" cy="9828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9ED001-44F3-F3C3-CC0D-BBDE07BF325B}"/>
              </a:ext>
            </a:extLst>
          </p:cNvPr>
          <p:cNvGrpSpPr/>
          <p:nvPr userDrawn="1"/>
        </p:nvGrpSpPr>
        <p:grpSpPr>
          <a:xfrm>
            <a:off x="8691562" y="4922894"/>
            <a:ext cx="3500438" cy="981860"/>
            <a:chOff x="8691562" y="5990347"/>
            <a:chExt cx="3500438" cy="9818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A05E5F-3062-6A12-8429-181B52C7543C}"/>
                </a:ext>
              </a:extLst>
            </p:cNvPr>
            <p:cNvSpPr/>
            <p:nvPr userDrawn="1"/>
          </p:nvSpPr>
          <p:spPr>
            <a:xfrm>
              <a:off x="9124950" y="6055394"/>
              <a:ext cx="3067050" cy="851767"/>
            </a:xfrm>
            <a:prstGeom prst="rect">
              <a:avLst/>
            </a:prstGeom>
            <a:gradFill flip="none" rotWithShape="1">
              <a:gsLst>
                <a:gs pos="0">
                  <a:scrgbClr r="0" g="0" b="0"/>
                </a:gs>
                <a:gs pos="0">
                  <a:scrgbClr r="0" g="0" b="0"/>
                </a:gs>
                <a:gs pos="0">
                  <a:srgbClr val="E3356C"/>
                </a:gs>
                <a:gs pos="100000">
                  <a:srgbClr val="EF8168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64985A3-F88F-D1CE-0FEF-2C073996D278}"/>
                </a:ext>
              </a:extLst>
            </p:cNvPr>
            <p:cNvSpPr/>
            <p:nvPr userDrawn="1"/>
          </p:nvSpPr>
          <p:spPr>
            <a:xfrm flipV="1">
              <a:off x="8691562" y="5990347"/>
              <a:ext cx="866775" cy="98186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9B320B85-E260-16CF-E4D8-FDBE2BB8CD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97822" y="3932057"/>
            <a:ext cx="6031633" cy="511211"/>
          </a:xfrm>
        </p:spPr>
        <p:txBody>
          <a:bodyPr lIns="0" rIns="0">
            <a:noAutofit/>
          </a:bodyPr>
          <a:lstStyle>
            <a:lvl1pPr marL="9144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>
                <a:solidFill>
                  <a:schemeClr val="bg2">
                    <a:lumMod val="1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C4C4FCF-E8C5-DAAE-212E-20AB5889B1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7822" y="3031434"/>
            <a:ext cx="6174156" cy="650419"/>
          </a:xfrm>
        </p:spPr>
        <p:txBody>
          <a:bodyPr vert="horz" wrap="square" lIns="0" tIns="0" rIns="0" bIns="0" rtlCol="0" anchor="ctr">
            <a:no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defRPr lang="en-US" sz="3600" spc="-5" baseline="0" dirty="0">
                <a:solidFill>
                  <a:schemeClr val="bg2">
                    <a:lumMod val="1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marL="12700" lvl="0">
              <a:lnSpc>
                <a:spcPts val="5500"/>
              </a:lnSpc>
              <a:spcBef>
                <a:spcPts val="100"/>
              </a:spcBef>
            </a:pPr>
            <a:r>
              <a:rPr lang="en-US"/>
              <a:t>Divider Title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F615B07-111A-54C3-E1E8-EC42F2AC9E0A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5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77756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4716941" cy="419608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latin typeface="+mj-lt"/>
              </a:defRPr>
            </a:lvl1pPr>
          </a:lstStyle>
          <a:p>
            <a:r>
              <a:rPr lang="en-US"/>
              <a:t>Click to edit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608584" y="939872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472" y="1497730"/>
            <a:ext cx="4903978" cy="497927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13;p2">
            <a:extLst>
              <a:ext uri="{FF2B5EF4-FFF2-40B4-BE49-F238E27FC236}">
                <a16:creationId xmlns:a16="http://schemas.microsoft.com/office/drawing/2014/main" id="{508570BA-D9C3-5B34-4608-939B327F3737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7295936-74BE-ABC7-6B6C-723E6BC2E7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EC56C0A6-98CD-FB2E-A876-1B2C913FE0CC}"/>
              </a:ext>
            </a:extLst>
          </p:cNvPr>
          <p:cNvSpPr/>
          <p:nvPr userDrawn="1"/>
        </p:nvSpPr>
        <p:spPr>
          <a:xfrm>
            <a:off x="11443966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ADCBB94-3E55-3BAA-6E19-2E2A3CC93AA7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40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4F9068E-58AA-8DE2-F3A8-CAF78249A2FC}"/>
              </a:ext>
            </a:extLst>
          </p:cNvPr>
          <p:cNvSpPr/>
          <p:nvPr userDrawn="1"/>
        </p:nvSpPr>
        <p:spPr>
          <a:xfrm>
            <a:off x="11443463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392" y="381001"/>
            <a:ext cx="7353969" cy="44805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Google Shape;13;p2">
            <a:extLst>
              <a:ext uri="{FF2B5EF4-FFF2-40B4-BE49-F238E27FC236}">
                <a16:creationId xmlns:a16="http://schemas.microsoft.com/office/drawing/2014/main" id="{9B72D9F8-426B-DE2A-B045-63A5B3323849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32" name="Picture 31" descr="Logo&#10;&#10;Description automatically generated">
            <a:extLst>
              <a:ext uri="{FF2B5EF4-FFF2-40B4-BE49-F238E27FC236}">
                <a16:creationId xmlns:a16="http://schemas.microsoft.com/office/drawing/2014/main" id="{5B6D8D80-35FE-FD86-7276-E9A22728C8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E42CBD1-416C-09B8-F989-35204951FC59}"/>
              </a:ext>
            </a:extLst>
          </p:cNvPr>
          <p:cNvSpPr txBox="1">
            <a:spLocks/>
          </p:cNvSpPr>
          <p:nvPr userDrawn="1"/>
        </p:nvSpPr>
        <p:spPr>
          <a:xfrm>
            <a:off x="560832" y="299720"/>
            <a:ext cx="1560576" cy="486833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0000">
                <a:solidFill>
                  <a:srgbClr val="F17D67"/>
                </a:solidFill>
              </a:rPr>
              <a:t>“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9ED05B3-4D87-1CD8-E2E8-2BFE30DFE8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664" y="1267968"/>
            <a:ext cx="5311648" cy="197916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83C1EAEA-EFD7-8D4C-32CB-C51F785BC2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696" y="3612896"/>
            <a:ext cx="5311648" cy="20137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68C47968-78B0-9B4D-2812-A50A865F5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7008" y="1265936"/>
            <a:ext cx="5299456" cy="43342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60B46FA4-4423-DE21-E8B3-1D7218B8199D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4751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215251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64" y="381000"/>
            <a:ext cx="8304946" cy="431800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215251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035537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629113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035537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629113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035537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629113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035537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629113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215251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215251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369F61BD-E5B4-4B2E-AA79-4A7677DF91CD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7C63DB5-D69A-348D-11A8-28DB6125B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4AD479-989A-8DA2-C34F-7526696BCEC3}"/>
              </a:ext>
            </a:extLst>
          </p:cNvPr>
          <p:cNvCxnSpPr>
            <a:cxnSpLocks/>
          </p:cNvCxnSpPr>
          <p:nvPr userDrawn="1"/>
        </p:nvCxnSpPr>
        <p:spPr>
          <a:xfrm>
            <a:off x="608584" y="935639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17C8CCE-CB58-0A76-A598-8BF5A1119C12}"/>
              </a:ext>
            </a:extLst>
          </p:cNvPr>
          <p:cNvSpPr/>
          <p:nvPr userDrawn="1"/>
        </p:nvSpPr>
        <p:spPr>
          <a:xfrm>
            <a:off x="11442062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AD761F86-2ED3-9B3A-883E-01D5DC739703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68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64" y="381000"/>
            <a:ext cx="8304946" cy="431800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369F61BD-E5B4-4B2E-AA79-4A7677DF91CD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7C63DB5-D69A-348D-11A8-28DB6125B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4AD479-989A-8DA2-C34F-7526696BCEC3}"/>
              </a:ext>
            </a:extLst>
          </p:cNvPr>
          <p:cNvCxnSpPr>
            <a:cxnSpLocks/>
          </p:cNvCxnSpPr>
          <p:nvPr userDrawn="1"/>
        </p:nvCxnSpPr>
        <p:spPr>
          <a:xfrm>
            <a:off x="608584" y="935639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17C8CCE-CB58-0A76-A598-8BF5A1119C12}"/>
              </a:ext>
            </a:extLst>
          </p:cNvPr>
          <p:cNvSpPr/>
          <p:nvPr userDrawn="1"/>
        </p:nvSpPr>
        <p:spPr>
          <a:xfrm>
            <a:off x="11442062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56AAEC-96D0-E539-9845-6C1F5D2CD4B1}"/>
              </a:ext>
            </a:extLst>
          </p:cNvPr>
          <p:cNvSpPr/>
          <p:nvPr userDrawn="1"/>
        </p:nvSpPr>
        <p:spPr>
          <a:xfrm>
            <a:off x="605536" y="1303017"/>
            <a:ext cx="3446272" cy="4824816"/>
          </a:xfrm>
          <a:prstGeom prst="rect">
            <a:avLst/>
          </a:prstGeom>
          <a:solidFill>
            <a:schemeClr val="tx1"/>
          </a:solidFill>
          <a:ln>
            <a:solidFill>
              <a:srgbClr val="F17D6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5A0D149-F5BA-8D22-3CB9-A5AC5072C3E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70798" y="3344889"/>
            <a:ext cx="2129245" cy="205837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45A10FF2-5967-C9C9-07A6-3DD1C76EEE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15136" y="3629393"/>
            <a:ext cx="2235200" cy="21921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06FE5F1-959D-194F-FEB7-92704855D8D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17638" y="1492250"/>
            <a:ext cx="1825625" cy="1774825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2697A4E-082D-3E1F-EC4A-0F20AA94BA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4373" y="4003801"/>
            <a:ext cx="3258000" cy="2055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51689A-7169-B5FE-7B81-0C9E862B97A3}"/>
              </a:ext>
            </a:extLst>
          </p:cNvPr>
          <p:cNvCxnSpPr>
            <a:cxnSpLocks/>
          </p:cNvCxnSpPr>
          <p:nvPr userDrawn="1"/>
        </p:nvCxnSpPr>
        <p:spPr>
          <a:xfrm>
            <a:off x="4697476" y="1941140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61771AD-1299-BD72-A647-9F5D5AD4A5A4}"/>
              </a:ext>
            </a:extLst>
          </p:cNvPr>
          <p:cNvSpPr/>
          <p:nvPr userDrawn="1"/>
        </p:nvSpPr>
        <p:spPr>
          <a:xfrm>
            <a:off x="4350512" y="1305049"/>
            <a:ext cx="3446272" cy="4824816"/>
          </a:xfrm>
          <a:prstGeom prst="rect">
            <a:avLst/>
          </a:prstGeom>
          <a:solidFill>
            <a:schemeClr val="tx1"/>
          </a:solidFill>
          <a:ln>
            <a:solidFill>
              <a:srgbClr val="F17D6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C2C32CBF-49F1-5F5D-0356-16038B2FE3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15774" y="3346921"/>
            <a:ext cx="2129245" cy="205837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56018B98-25AF-E0DF-E933-285D5B51BF6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0112" y="3631425"/>
            <a:ext cx="2235200" cy="21921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7C93F47C-25F5-39E9-9007-592446DE4E7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162614" y="1494282"/>
            <a:ext cx="1825625" cy="1774825"/>
          </a:xfrm>
        </p:spPr>
        <p:txBody>
          <a:bodyPr/>
          <a:lstStyle/>
          <a:p>
            <a:endParaRPr lang="en-IN"/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D9ADC3C2-58D3-20CA-B358-ABBC30D28CE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39349" y="4005833"/>
            <a:ext cx="3258000" cy="2055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C5E983-4BB8-8B0D-9AF8-35B33543D2C3}"/>
              </a:ext>
            </a:extLst>
          </p:cNvPr>
          <p:cNvCxnSpPr>
            <a:cxnSpLocks/>
          </p:cNvCxnSpPr>
          <p:nvPr userDrawn="1"/>
        </p:nvCxnSpPr>
        <p:spPr>
          <a:xfrm>
            <a:off x="8442452" y="1943172"/>
            <a:ext cx="2161276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5A80751-4C67-7BD0-FD42-A1C1C52CC9F8}"/>
              </a:ext>
            </a:extLst>
          </p:cNvPr>
          <p:cNvSpPr/>
          <p:nvPr userDrawn="1"/>
        </p:nvSpPr>
        <p:spPr>
          <a:xfrm>
            <a:off x="8095488" y="1307081"/>
            <a:ext cx="3490976" cy="4824816"/>
          </a:xfrm>
          <a:prstGeom prst="rect">
            <a:avLst/>
          </a:prstGeom>
          <a:solidFill>
            <a:schemeClr val="tx1"/>
          </a:solidFill>
          <a:ln>
            <a:solidFill>
              <a:srgbClr val="F17D6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BC654016-3028-6748-933D-B53DD157E9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760750" y="3348953"/>
            <a:ext cx="2156865" cy="205837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3658A12-A6A2-D80A-6F62-901314980E5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05088" y="3633457"/>
            <a:ext cx="2264194" cy="21921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4">
            <a:extLst>
              <a:ext uri="{FF2B5EF4-FFF2-40B4-BE49-F238E27FC236}">
                <a16:creationId xmlns:a16="http://schemas.microsoft.com/office/drawing/2014/main" id="{9A73193B-C55C-F755-7880-FEDB40DDC5E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907590" y="1496314"/>
            <a:ext cx="1849306" cy="1774825"/>
          </a:xfrm>
        </p:spPr>
        <p:txBody>
          <a:bodyPr/>
          <a:lstStyle/>
          <a:p>
            <a:endParaRPr lang="en-IN"/>
          </a:p>
        </p:txBody>
      </p:sp>
      <p:sp>
        <p:nvSpPr>
          <p:cNvPr id="30" name="Text Placeholder 41">
            <a:extLst>
              <a:ext uri="{FF2B5EF4-FFF2-40B4-BE49-F238E27FC236}">
                <a16:creationId xmlns:a16="http://schemas.microsoft.com/office/drawing/2014/main" id="{8D262CEB-029B-8002-9089-C7350575D3B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84325" y="4007865"/>
            <a:ext cx="3300262" cy="2055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D44846F4-EE0F-7828-B75E-B232A1D46922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76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2293" y="1943100"/>
            <a:ext cx="2136" cy="1828800"/>
          </a:xfrm>
          <a:prstGeom prst="line">
            <a:avLst/>
          </a:prstGeom>
          <a:ln w="165100">
            <a:solidFill>
              <a:srgbClr val="F1A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5831387" y="1943100"/>
            <a:ext cx="11102" cy="1828800"/>
          </a:xfrm>
          <a:prstGeom prst="line">
            <a:avLst/>
          </a:prstGeom>
          <a:ln w="165100">
            <a:solidFill>
              <a:srgbClr val="F1A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7185445" y="3634029"/>
            <a:ext cx="2136" cy="1828800"/>
          </a:xfrm>
          <a:prstGeom prst="line">
            <a:avLst/>
          </a:prstGeom>
          <a:ln w="165100">
            <a:solidFill>
              <a:srgbClr val="F1A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2562975" y="3613066"/>
            <a:ext cx="2136" cy="1828800"/>
          </a:xfrm>
          <a:prstGeom prst="line">
            <a:avLst/>
          </a:prstGeom>
          <a:ln w="165100">
            <a:solidFill>
              <a:srgbClr val="F1A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2" y="381000"/>
            <a:ext cx="7967633" cy="44805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3289" y="2664173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3289" y="2298003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49685" y="4804453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49685" y="4419033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41533" y="4816645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441533" y="4431225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89037" y="2664173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089037" y="2298003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4023" y="3698097"/>
            <a:ext cx="10275477" cy="0"/>
          </a:xfrm>
          <a:prstGeom prst="line">
            <a:avLst/>
          </a:prstGeom>
          <a:ln w="165100">
            <a:solidFill>
              <a:srgbClr val="E335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0657" y="3612558"/>
            <a:ext cx="163271" cy="163271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2483476" y="3609137"/>
            <a:ext cx="163271" cy="163271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5749751" y="3612558"/>
            <a:ext cx="163271" cy="163271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7105946" y="3621329"/>
            <a:ext cx="163271" cy="163271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5A1D123B-A205-9660-AA45-0C3D45167876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79A107-B331-A6F6-7C07-237E38AB90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CF77C-6E1D-8612-A424-0D4E47E87536}"/>
              </a:ext>
            </a:extLst>
          </p:cNvPr>
          <p:cNvCxnSpPr>
            <a:cxnSpLocks/>
          </p:cNvCxnSpPr>
          <p:nvPr userDrawn="1"/>
        </p:nvCxnSpPr>
        <p:spPr>
          <a:xfrm>
            <a:off x="600456" y="935637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E802EE7-4553-D622-6155-BEAA5B642D05}"/>
              </a:ext>
            </a:extLst>
          </p:cNvPr>
          <p:cNvSpPr/>
          <p:nvPr userDrawn="1"/>
        </p:nvSpPr>
        <p:spPr>
          <a:xfrm>
            <a:off x="11443014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883FDD41-5598-88FE-3176-6E7BB43C8309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57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12337" cy="44399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604520" y="936317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A6478EEE-D4EA-734F-ABEA-F832BDEEBDBA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A6AB01D-7059-B4DF-F343-50E7BE195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132" name="Oval 131">
            <a:extLst>
              <a:ext uri="{FF2B5EF4-FFF2-40B4-BE49-F238E27FC236}">
                <a16:creationId xmlns:a16="http://schemas.microsoft.com/office/drawing/2014/main" id="{E4C7DA42-3D0C-1C2F-0C46-F7B60FE69391}"/>
              </a:ext>
            </a:extLst>
          </p:cNvPr>
          <p:cNvSpPr/>
          <p:nvPr userDrawn="1"/>
        </p:nvSpPr>
        <p:spPr>
          <a:xfrm>
            <a:off x="11442060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B4CBA-1CB1-FE4F-4D03-77F2F5A33C5C}"/>
              </a:ext>
            </a:extLst>
          </p:cNvPr>
          <p:cNvSpPr/>
          <p:nvPr userDrawn="1"/>
        </p:nvSpPr>
        <p:spPr>
          <a:xfrm>
            <a:off x="635000" y="1651500"/>
            <a:ext cx="2468880" cy="291600"/>
          </a:xfrm>
          <a:prstGeom prst="rect">
            <a:avLst/>
          </a:prstGeom>
          <a:solidFill>
            <a:srgbClr val="F1AB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9F531-4DA7-C9C7-A6B2-22BF9D12A925}"/>
              </a:ext>
            </a:extLst>
          </p:cNvPr>
          <p:cNvSpPr/>
          <p:nvPr userDrawn="1"/>
        </p:nvSpPr>
        <p:spPr>
          <a:xfrm>
            <a:off x="3338464" y="1651500"/>
            <a:ext cx="2468880" cy="291600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B02159-7782-21DA-0806-77D178B6D296}"/>
              </a:ext>
            </a:extLst>
          </p:cNvPr>
          <p:cNvSpPr/>
          <p:nvPr userDrawn="1"/>
        </p:nvSpPr>
        <p:spPr>
          <a:xfrm>
            <a:off x="6010093" y="1651500"/>
            <a:ext cx="2468880" cy="291600"/>
          </a:xfrm>
          <a:prstGeom prst="rect">
            <a:avLst/>
          </a:prstGeom>
          <a:solidFill>
            <a:srgbClr val="ED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894AE5-BFDF-58F1-6CAC-0616A931DB39}"/>
              </a:ext>
            </a:extLst>
          </p:cNvPr>
          <p:cNvSpPr/>
          <p:nvPr userDrawn="1"/>
        </p:nvSpPr>
        <p:spPr>
          <a:xfrm>
            <a:off x="8710170" y="1651500"/>
            <a:ext cx="2468880" cy="291600"/>
          </a:xfrm>
          <a:prstGeom prst="rect">
            <a:avLst/>
          </a:prstGeom>
          <a:solidFill>
            <a:srgbClr val="D330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1D5154-350C-E28F-F762-C28BFDE5D6AB}"/>
              </a:ext>
            </a:extLst>
          </p:cNvPr>
          <p:cNvSpPr/>
          <p:nvPr userDrawn="1"/>
        </p:nvSpPr>
        <p:spPr>
          <a:xfrm>
            <a:off x="628904" y="4007095"/>
            <a:ext cx="2468880" cy="291600"/>
          </a:xfrm>
          <a:prstGeom prst="rect">
            <a:avLst/>
          </a:prstGeom>
          <a:solidFill>
            <a:srgbClr val="F1AB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1FB62-9FE9-4EBC-3176-51A43C7481A6}"/>
              </a:ext>
            </a:extLst>
          </p:cNvPr>
          <p:cNvSpPr/>
          <p:nvPr userDrawn="1"/>
        </p:nvSpPr>
        <p:spPr>
          <a:xfrm>
            <a:off x="3332368" y="4007095"/>
            <a:ext cx="2468880" cy="291600"/>
          </a:xfrm>
          <a:prstGeom prst="rect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AE0CD-6333-73C2-05B9-AFC57B5564A1}"/>
              </a:ext>
            </a:extLst>
          </p:cNvPr>
          <p:cNvSpPr/>
          <p:nvPr userDrawn="1"/>
        </p:nvSpPr>
        <p:spPr>
          <a:xfrm>
            <a:off x="6003997" y="4007095"/>
            <a:ext cx="2468880" cy="291600"/>
          </a:xfrm>
          <a:prstGeom prst="rect">
            <a:avLst/>
          </a:prstGeom>
          <a:solidFill>
            <a:srgbClr val="ED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C0B77221-EAAA-49A9-A1C7-B95EA18212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8576" y="1660145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8F5C2E41-0633-E78F-76FB-1265C72337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10656" y="1658113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07CDE1-D161-B363-3BC8-F1A9F14946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07120" y="1664209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275EDFA8-804F-7640-E514-D7BC1B5C7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88" y="4009137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A90EC61-718B-6C76-6718-5504D0F840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20" y="1654049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5E41452-CE87-7AAC-4FFE-2A80A1DC8A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8416" y="4011169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2606B8A2-D88B-DE0F-8604-1D180F46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04560" y="4009137"/>
            <a:ext cx="2470912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600" b="0" i="0" spc="0" baseline="0">
                <a:solidFill>
                  <a:schemeClr val="tx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96F1EF8-CC78-C210-96ED-7869022132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3413" y="2000250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AB66769-4073-8B36-B0C2-397B0C6324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29877" y="2010410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81BA3FCE-6B9C-906F-6423-C618709A19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26341" y="2020570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238CC3EC-22CB-16C9-13F9-6EADAADEC1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2805" y="2030730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5AA9C5BA-9574-1CB6-2AAE-17BAAAB100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5445" y="4371594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E4B74227-D751-AC81-DD57-49DC8C48BF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31909" y="4381754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959C11E-E9B6-5DF2-8BA3-93A0F75E32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28373" y="4391914"/>
            <a:ext cx="2469600" cy="18843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A6DB6CC1-0544-EAEA-E72A-37AF5A7E55AE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7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l Out Pl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12337" cy="44399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604520" y="936317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A6478EEE-D4EA-734F-ABEA-F832BDEEBDBA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A6AB01D-7059-B4DF-F343-50E7BE195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132" name="Oval 131">
            <a:extLst>
              <a:ext uri="{FF2B5EF4-FFF2-40B4-BE49-F238E27FC236}">
                <a16:creationId xmlns:a16="http://schemas.microsoft.com/office/drawing/2014/main" id="{E4C7DA42-3D0C-1C2F-0C46-F7B60FE69391}"/>
              </a:ext>
            </a:extLst>
          </p:cNvPr>
          <p:cNvSpPr/>
          <p:nvPr userDrawn="1"/>
        </p:nvSpPr>
        <p:spPr>
          <a:xfrm>
            <a:off x="11442060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A6DB6CC1-0544-EAEA-E72A-37AF5A7E55AE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D79DCF-7C2E-947E-1F84-7A78D95CFFA9}"/>
              </a:ext>
            </a:extLst>
          </p:cNvPr>
          <p:cNvSpPr/>
          <p:nvPr userDrawn="1"/>
        </p:nvSpPr>
        <p:spPr>
          <a:xfrm>
            <a:off x="1476733" y="1589024"/>
            <a:ext cx="1440000" cy="324000"/>
          </a:xfrm>
          <a:prstGeom prst="roundRect">
            <a:avLst/>
          </a:prstGeom>
          <a:noFill/>
          <a:ln cap="flat">
            <a:solidFill>
              <a:srgbClr val="F1AB6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038100-B365-1DAE-C7C2-5B3D09BE391E}"/>
              </a:ext>
            </a:extLst>
          </p:cNvPr>
          <p:cNvSpPr/>
          <p:nvPr userDrawn="1"/>
        </p:nvSpPr>
        <p:spPr>
          <a:xfrm>
            <a:off x="759968" y="1912112"/>
            <a:ext cx="2880000" cy="1080000"/>
          </a:xfrm>
          <a:prstGeom prst="roundRect">
            <a:avLst/>
          </a:prstGeom>
          <a:noFill/>
          <a:ln cap="flat">
            <a:solidFill>
              <a:srgbClr val="F1AB6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A4BD589C-EF4E-45E1-1B07-2204A2ECD955}"/>
              </a:ext>
            </a:extLst>
          </p:cNvPr>
          <p:cNvSpPr/>
          <p:nvPr userDrawn="1"/>
        </p:nvSpPr>
        <p:spPr>
          <a:xfrm>
            <a:off x="1621535" y="2133600"/>
            <a:ext cx="2495709" cy="633984"/>
          </a:xfrm>
          <a:prstGeom prst="chevron">
            <a:avLst/>
          </a:prstGeom>
          <a:solidFill>
            <a:srgbClr val="F1AB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0A4B33C-5355-78F3-A2A6-E7FC48B47E84}"/>
              </a:ext>
            </a:extLst>
          </p:cNvPr>
          <p:cNvSpPr/>
          <p:nvPr userDrawn="1"/>
        </p:nvSpPr>
        <p:spPr>
          <a:xfrm>
            <a:off x="617727" y="2011680"/>
            <a:ext cx="3132779" cy="877824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F15182-2468-1CAE-CD10-37B33C7E0F87}"/>
              </a:ext>
            </a:extLst>
          </p:cNvPr>
          <p:cNvSpPr/>
          <p:nvPr userDrawn="1"/>
        </p:nvSpPr>
        <p:spPr>
          <a:xfrm>
            <a:off x="5199216" y="1591056"/>
            <a:ext cx="1440000" cy="324000"/>
          </a:xfrm>
          <a:prstGeom prst="roundRect">
            <a:avLst/>
          </a:prstGeom>
          <a:noFill/>
          <a:ln cap="flat">
            <a:solidFill>
              <a:srgbClr val="F17D6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93D47D-47A3-A323-D8C3-6F22CD2BBB30}"/>
              </a:ext>
            </a:extLst>
          </p:cNvPr>
          <p:cNvSpPr/>
          <p:nvPr userDrawn="1"/>
        </p:nvSpPr>
        <p:spPr>
          <a:xfrm>
            <a:off x="4468368" y="1914144"/>
            <a:ext cx="2880000" cy="1080000"/>
          </a:xfrm>
          <a:prstGeom prst="roundRect">
            <a:avLst/>
          </a:prstGeom>
          <a:noFill/>
          <a:ln cap="flat">
            <a:solidFill>
              <a:srgbClr val="F17D6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7C9B7CEE-E745-FE78-9D62-1EB58DE5D6A8}"/>
              </a:ext>
            </a:extLst>
          </p:cNvPr>
          <p:cNvSpPr/>
          <p:nvPr userDrawn="1"/>
        </p:nvSpPr>
        <p:spPr>
          <a:xfrm>
            <a:off x="5329936" y="2135632"/>
            <a:ext cx="2494800" cy="633984"/>
          </a:xfrm>
          <a:prstGeom prst="chevron">
            <a:avLst/>
          </a:prstGeom>
          <a:solidFill>
            <a:srgbClr val="F17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39D2C0B-6386-4573-4E0D-B2311559E275}"/>
              </a:ext>
            </a:extLst>
          </p:cNvPr>
          <p:cNvSpPr/>
          <p:nvPr userDrawn="1"/>
        </p:nvSpPr>
        <p:spPr>
          <a:xfrm>
            <a:off x="4326128" y="2013712"/>
            <a:ext cx="3132000" cy="877824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275C1E-E4EB-2122-63CD-F22A2C762227}"/>
              </a:ext>
            </a:extLst>
          </p:cNvPr>
          <p:cNvSpPr/>
          <p:nvPr userDrawn="1"/>
        </p:nvSpPr>
        <p:spPr>
          <a:xfrm>
            <a:off x="8927936" y="1593088"/>
            <a:ext cx="1440000" cy="324000"/>
          </a:xfrm>
          <a:prstGeom prst="roundRect">
            <a:avLst/>
          </a:prstGeom>
          <a:noFill/>
          <a:ln cap="flat">
            <a:solidFill>
              <a:srgbClr val="E335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EEFD60-A30E-49B5-BE38-C30333F11494}"/>
              </a:ext>
            </a:extLst>
          </p:cNvPr>
          <p:cNvSpPr/>
          <p:nvPr userDrawn="1"/>
        </p:nvSpPr>
        <p:spPr>
          <a:xfrm>
            <a:off x="8197088" y="1916176"/>
            <a:ext cx="2880000" cy="1080000"/>
          </a:xfrm>
          <a:prstGeom prst="roundRect">
            <a:avLst/>
          </a:prstGeom>
          <a:noFill/>
          <a:ln cap="flat">
            <a:solidFill>
              <a:srgbClr val="E335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E46CC745-289D-7A47-08F4-BD725FFEDE73}"/>
              </a:ext>
            </a:extLst>
          </p:cNvPr>
          <p:cNvSpPr/>
          <p:nvPr userDrawn="1"/>
        </p:nvSpPr>
        <p:spPr>
          <a:xfrm>
            <a:off x="9058656" y="2137664"/>
            <a:ext cx="2494800" cy="633984"/>
          </a:xfrm>
          <a:prstGeom prst="chevron">
            <a:avLst/>
          </a:prstGeom>
          <a:solidFill>
            <a:srgbClr val="E33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AEFB2E6D-9AC9-C832-2323-CA92228ED828}"/>
              </a:ext>
            </a:extLst>
          </p:cNvPr>
          <p:cNvSpPr/>
          <p:nvPr userDrawn="1"/>
        </p:nvSpPr>
        <p:spPr>
          <a:xfrm>
            <a:off x="8054848" y="2015744"/>
            <a:ext cx="3132000" cy="877824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92CDB9-AF69-DA5A-5BA8-A1ED4AAE80C6}"/>
              </a:ext>
            </a:extLst>
          </p:cNvPr>
          <p:cNvSpPr/>
          <p:nvPr userDrawn="1"/>
        </p:nvSpPr>
        <p:spPr>
          <a:xfrm>
            <a:off x="757936" y="3212344"/>
            <a:ext cx="2880000" cy="2520000"/>
          </a:xfrm>
          <a:prstGeom prst="roundRect">
            <a:avLst>
              <a:gd name="adj" fmla="val 8008"/>
            </a:avLst>
          </a:prstGeom>
          <a:solidFill>
            <a:srgbClr val="F6CDA4"/>
          </a:solidFill>
          <a:ln cap="flat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5AA9C5BA-9574-1CB6-2AAE-17BAAAB100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8179" y="3398506"/>
            <a:ext cx="2469600" cy="1800000"/>
          </a:xfrm>
          <a:effectLst>
            <a:softEdge rad="0"/>
          </a:effectLst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E929DA-FDBE-0413-C31C-42E28FD623C2}"/>
              </a:ext>
            </a:extLst>
          </p:cNvPr>
          <p:cNvSpPr/>
          <p:nvPr userDrawn="1"/>
        </p:nvSpPr>
        <p:spPr>
          <a:xfrm>
            <a:off x="4486656" y="3218440"/>
            <a:ext cx="2880000" cy="2520000"/>
          </a:xfrm>
          <a:prstGeom prst="roundRect">
            <a:avLst>
              <a:gd name="adj" fmla="val 8008"/>
            </a:avLst>
          </a:prstGeom>
          <a:solidFill>
            <a:srgbClr val="F5A595"/>
          </a:solidFill>
          <a:ln cap="flat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DEE9C966-26E5-D9AC-68AA-2980561C18D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86899" y="3404602"/>
            <a:ext cx="2469600" cy="1800000"/>
          </a:xfrm>
          <a:effectLst>
            <a:softEdge rad="0"/>
          </a:effectLst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4AF7E9B-9627-B2C1-A66C-0463ABD151C6}"/>
              </a:ext>
            </a:extLst>
          </p:cNvPr>
          <p:cNvSpPr/>
          <p:nvPr userDrawn="1"/>
        </p:nvSpPr>
        <p:spPr>
          <a:xfrm>
            <a:off x="8190992" y="3200152"/>
            <a:ext cx="2880000" cy="2520000"/>
          </a:xfrm>
          <a:prstGeom prst="roundRect">
            <a:avLst>
              <a:gd name="adj" fmla="val 8008"/>
            </a:avLst>
          </a:prstGeom>
          <a:solidFill>
            <a:srgbClr val="EE82A3"/>
          </a:solidFill>
          <a:ln cap="flat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C0F3DA62-677A-5A37-3820-66951809F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391235" y="3386314"/>
            <a:ext cx="2469600" cy="1800000"/>
          </a:xfrm>
          <a:effectLst>
            <a:softEdge rad="0"/>
          </a:effectLst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C36B6DA4-3D28-B3C5-C2A9-ED031854F515}"/>
              </a:ext>
            </a:extLst>
          </p:cNvPr>
          <p:cNvSpPr/>
          <p:nvPr userDrawn="1"/>
        </p:nvSpPr>
        <p:spPr>
          <a:xfrm>
            <a:off x="1820672" y="5360416"/>
            <a:ext cx="720000" cy="720000"/>
          </a:xfrm>
          <a:prstGeom prst="flowChartConnector">
            <a:avLst/>
          </a:prstGeom>
          <a:noFill/>
          <a:ln>
            <a:solidFill>
              <a:srgbClr val="F1AB6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9087EDA5-DF0A-4091-06EF-247C3BEF2D7B}"/>
              </a:ext>
            </a:extLst>
          </p:cNvPr>
          <p:cNvSpPr/>
          <p:nvPr userDrawn="1"/>
        </p:nvSpPr>
        <p:spPr>
          <a:xfrm>
            <a:off x="1786128" y="5362448"/>
            <a:ext cx="720000" cy="720000"/>
          </a:xfrm>
          <a:prstGeom prst="flowChartConnector">
            <a:avLst/>
          </a:prstGeom>
          <a:solidFill>
            <a:srgbClr val="F1AB68"/>
          </a:solidFill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4A35705-E02B-FC7F-3471-5E899DC3620D}"/>
              </a:ext>
            </a:extLst>
          </p:cNvPr>
          <p:cNvSpPr/>
          <p:nvPr userDrawn="1"/>
        </p:nvSpPr>
        <p:spPr>
          <a:xfrm>
            <a:off x="5561584" y="5362448"/>
            <a:ext cx="720000" cy="720000"/>
          </a:xfrm>
          <a:prstGeom prst="flowChartConnector">
            <a:avLst/>
          </a:prstGeom>
          <a:noFill/>
          <a:ln>
            <a:solidFill>
              <a:srgbClr val="F17D6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1D3AF80D-58E4-599D-BC95-D3BE39A45B84}"/>
              </a:ext>
            </a:extLst>
          </p:cNvPr>
          <p:cNvSpPr/>
          <p:nvPr userDrawn="1"/>
        </p:nvSpPr>
        <p:spPr>
          <a:xfrm>
            <a:off x="5527040" y="5364480"/>
            <a:ext cx="720000" cy="720000"/>
          </a:xfrm>
          <a:prstGeom prst="flowChartConnector">
            <a:avLst/>
          </a:prstGeom>
          <a:solidFill>
            <a:srgbClr val="F17D67"/>
          </a:solidFill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4967378B-C9E3-B734-1777-C1D8F59ADDEF}"/>
              </a:ext>
            </a:extLst>
          </p:cNvPr>
          <p:cNvSpPr/>
          <p:nvPr userDrawn="1"/>
        </p:nvSpPr>
        <p:spPr>
          <a:xfrm>
            <a:off x="9302496" y="5364480"/>
            <a:ext cx="720000" cy="720000"/>
          </a:xfrm>
          <a:prstGeom prst="flowChartConnector">
            <a:avLst/>
          </a:prstGeom>
          <a:noFill/>
          <a:ln>
            <a:solidFill>
              <a:srgbClr val="E335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49784F4B-7B43-CDC9-81F5-7BA67DE2F138}"/>
              </a:ext>
            </a:extLst>
          </p:cNvPr>
          <p:cNvSpPr/>
          <p:nvPr userDrawn="1"/>
        </p:nvSpPr>
        <p:spPr>
          <a:xfrm>
            <a:off x="9267952" y="5366512"/>
            <a:ext cx="720000" cy="720000"/>
          </a:xfrm>
          <a:prstGeom prst="flowChartConnector">
            <a:avLst/>
          </a:prstGeom>
          <a:solidFill>
            <a:srgbClr val="E3356C"/>
          </a:solidFill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0230BBAE-D869-4DD1-870B-311B7741E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3680" y="1617473"/>
            <a:ext cx="1385824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CE64437C-88BF-6853-C85C-EB45A94DC8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2400" y="1627633"/>
            <a:ext cx="1385824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1892D119-8CF2-9B08-3BF0-01770E9AFB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61120" y="1637793"/>
            <a:ext cx="1385824" cy="280416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1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4918918B-4E4A-E526-6917-0D82733CC1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8240" y="2153920"/>
            <a:ext cx="2141728" cy="581152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0" i="0" spc="0" baseline="0">
                <a:solidFill>
                  <a:schemeClr val="bg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4EA2A20-0348-367C-54FA-C4A788DF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82896" y="2164080"/>
            <a:ext cx="2141728" cy="581152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0" i="0" spc="0" baseline="0">
                <a:solidFill>
                  <a:schemeClr val="bg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C9FACF0B-FA74-6993-0FCA-11640A0816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07552" y="2170176"/>
            <a:ext cx="2141728" cy="581152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1400" b="0" i="0" spc="0" baseline="0">
                <a:solidFill>
                  <a:schemeClr val="bg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28" name="Graphic 127" descr="Office worker male outline">
            <a:extLst>
              <a:ext uri="{FF2B5EF4-FFF2-40B4-BE49-F238E27FC236}">
                <a16:creationId xmlns:a16="http://schemas.microsoft.com/office/drawing/2014/main" id="{7D7CA22F-C045-9712-1F11-5A4BEE15B5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4286" y="5402049"/>
            <a:ext cx="610414" cy="610414"/>
          </a:xfrm>
          <a:prstGeom prst="rect">
            <a:avLst/>
          </a:prstGeom>
        </p:spPr>
      </p:pic>
      <p:pic>
        <p:nvPicPr>
          <p:cNvPr id="135" name="Graphic 134" descr="Clipboard outline">
            <a:extLst>
              <a:ext uri="{FF2B5EF4-FFF2-40B4-BE49-F238E27FC236}">
                <a16:creationId xmlns:a16="http://schemas.microsoft.com/office/drawing/2014/main" id="{4B6FA046-31D4-B61E-B049-6DAAE79F51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9681" y="5411830"/>
            <a:ext cx="612000" cy="612000"/>
          </a:xfrm>
          <a:prstGeom prst="rect">
            <a:avLst/>
          </a:prstGeom>
        </p:spPr>
      </p:pic>
      <p:pic>
        <p:nvPicPr>
          <p:cNvPr id="137" name="Graphic 136" descr="Route (Two Pins With A Path) outline">
            <a:extLst>
              <a:ext uri="{FF2B5EF4-FFF2-40B4-BE49-F238E27FC236}">
                <a16:creationId xmlns:a16="http://schemas.microsoft.com/office/drawing/2014/main" id="{8B82237E-3E00-C449-FAA2-887018A5484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0629" y="5426499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08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5868416" cy="47560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28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616712" y="1333743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536" y="1694791"/>
            <a:ext cx="2811941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rgbClr val="F17D6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536" y="2193781"/>
            <a:ext cx="28119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222408" y="1694791"/>
            <a:ext cx="2811941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rgbClr val="F17D6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223454" y="2193781"/>
            <a:ext cx="2825046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840053" y="1694791"/>
            <a:ext cx="2811941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rgbClr val="F17D6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840053" y="2193781"/>
            <a:ext cx="28119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233584" y="1333743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7851229" y="1333743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3;p2">
            <a:extLst>
              <a:ext uri="{FF2B5EF4-FFF2-40B4-BE49-F238E27FC236}">
                <a16:creationId xmlns:a16="http://schemas.microsoft.com/office/drawing/2014/main" id="{0CECBBC6-208C-6FED-3B82-130C02D251EF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1F348F3-FB4E-3F0B-B0B2-56C915EFC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8CDEE4D-1FE8-A1F7-A7A9-B87DF9D6E270}"/>
              </a:ext>
            </a:extLst>
          </p:cNvPr>
          <p:cNvSpPr/>
          <p:nvPr userDrawn="1"/>
        </p:nvSpPr>
        <p:spPr>
          <a:xfrm>
            <a:off x="11442065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49B58-8D9A-C1F4-3EEC-FA41FF76B1AE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06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0212" y="1941640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212" y="1570736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rgbClr val="F17D67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1367" y="3126582"/>
            <a:ext cx="4838700" cy="636754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367" y="2755678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rgbClr val="F17D67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0212" y="4302637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0212" y="3931733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rgbClr val="F17D67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27359" y="1941640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27359" y="1570736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rgbClr val="F17D67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27359" y="3126582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7359" y="2755678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rgbClr val="F17D67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Google Shape;13;p2">
            <a:extLst>
              <a:ext uri="{FF2B5EF4-FFF2-40B4-BE49-F238E27FC236}">
                <a16:creationId xmlns:a16="http://schemas.microsoft.com/office/drawing/2014/main" id="{B2EC1002-1AB4-A6C4-C45A-3D8BC9008E09}"/>
              </a:ext>
            </a:extLst>
          </p:cNvPr>
          <p:cNvSpPr/>
          <p:nvPr userDrawn="1"/>
        </p:nvSpPr>
        <p:spPr>
          <a:xfrm rot="10800000">
            <a:off x="519112" y="6767998"/>
            <a:ext cx="11672887" cy="90000"/>
          </a:xfrm>
          <a:prstGeom prst="rect">
            <a:avLst/>
          </a:prstGeom>
          <a:gradFill flip="none" rotWithShape="1">
            <a:gsLst>
              <a:gs pos="0">
                <a:srgbClr val="D3306A"/>
              </a:gs>
              <a:gs pos="25000">
                <a:srgbClr val="E3356C"/>
              </a:gs>
              <a:gs pos="50000">
                <a:srgbClr val="ED4F6C"/>
              </a:gs>
              <a:gs pos="75000">
                <a:srgbClr val="EE7868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sx="50000" sy="50000" rotWithShape="0">
              <a:schemeClr val="tx1">
                <a:lumMod val="50000"/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6A8CD92-1E86-ED46-7B08-BC95396CE3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" t="6354" r="68729" b="6228"/>
          <a:stretch/>
        </p:blipFill>
        <p:spPr>
          <a:xfrm>
            <a:off x="-1" y="6543675"/>
            <a:ext cx="636283" cy="314325"/>
          </a:xfrm>
          <a:prstGeom prst="rect">
            <a:avLst/>
          </a:prstGeom>
          <a:effectLst>
            <a:outerShdw blurRad="50800" dist="38100" dir="10800000" algn="r" rotWithShape="0">
              <a:schemeClr val="tx1">
                <a:lumMod val="50000"/>
                <a:alpha val="40000"/>
              </a:scheme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39C4CA8-1335-A9B7-5244-16B1785AEB6C}"/>
              </a:ext>
            </a:extLst>
          </p:cNvPr>
          <p:cNvSpPr/>
          <p:nvPr userDrawn="1"/>
        </p:nvSpPr>
        <p:spPr>
          <a:xfrm>
            <a:off x="11443014" y="6250563"/>
            <a:ext cx="368230" cy="368134"/>
          </a:xfrm>
          <a:prstGeom prst="ellipse">
            <a:avLst/>
          </a:prstGeom>
          <a:solidFill>
            <a:srgbClr val="F1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3600" b="0" i="0">
              <a:latin typeface="Arial Regular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A074E1F-43F0-CA28-C4C2-36411DDD57BA}"/>
              </a:ext>
            </a:extLst>
          </p:cNvPr>
          <p:cNvSpPr txBox="1">
            <a:spLocks/>
          </p:cNvSpPr>
          <p:nvPr userDrawn="1"/>
        </p:nvSpPr>
        <p:spPr>
          <a:xfrm>
            <a:off x="11372586" y="635254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0EE48A-A23F-63ED-6ABD-22223BA7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12337" cy="44399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28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7F7AFE-E1AA-4FC0-DCF3-AB85FF39A37D}"/>
              </a:ext>
            </a:extLst>
          </p:cNvPr>
          <p:cNvCxnSpPr>
            <a:cxnSpLocks/>
          </p:cNvCxnSpPr>
          <p:nvPr userDrawn="1"/>
        </p:nvCxnSpPr>
        <p:spPr>
          <a:xfrm>
            <a:off x="604520" y="936317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734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="0" i="0">
                <a:solidFill>
                  <a:srgbClr val="F17D67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rgbClr val="F17D6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4057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April 6, 2023</a:t>
            </a:r>
            <a:endParaRPr lang="en-US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b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6350" y="6336284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754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161078-C885-0BF0-2D1C-8C2B51B578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7646" y="4918474"/>
            <a:ext cx="4788883" cy="953337"/>
          </a:xfrm>
        </p:spPr>
        <p:txBody>
          <a:bodyPr/>
          <a:lstStyle/>
          <a:p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17D67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Solving Your Healthcare Management Challenges</a:t>
            </a: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F17D67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77F12-F739-2EEC-C2F8-0887286E8D95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TRA: Solving Your Healthcare Management Challenges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36A57-704E-45CC-01C9-C88B70821D16}"/>
              </a:ext>
            </a:extLst>
          </p:cNvPr>
          <p:cNvSpPr txBox="1"/>
          <p:nvPr/>
        </p:nvSpPr>
        <p:spPr>
          <a:xfrm>
            <a:off x="6615070" y="3819265"/>
            <a:ext cx="547656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17D67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TRA-Total Reward Analytics</a:t>
            </a:r>
            <a:endParaRPr lang="en-IN" sz="2800" b="1"/>
          </a:p>
        </p:txBody>
      </p:sp>
    </p:spTree>
    <p:extLst>
      <p:ext uri="{BB962C8B-B14F-4D97-AF65-F5344CB8AC3E}">
        <p14:creationId xmlns:p14="http://schemas.microsoft.com/office/powerpoint/2010/main" val="331337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85227C1-B3D4-C455-EE76-AB812F5F40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694630"/>
              </p:ext>
            </p:extLst>
          </p:nvPr>
        </p:nvGraphicFramePr>
        <p:xfrm>
          <a:off x="1380413" y="2209799"/>
          <a:ext cx="9013267" cy="2438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13C5F-A082-F427-FCFD-5AFF7BA49804}"/>
              </a:ext>
            </a:extLst>
          </p:cNvPr>
          <p:cNvSpPr txBox="1"/>
          <p:nvPr/>
        </p:nvSpPr>
        <p:spPr>
          <a:xfrm>
            <a:off x="176981" y="1052052"/>
            <a:ext cx="1156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Empowering SIEs to Tackle Healthcare Management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77180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3C3C-F154-2875-8C03-421CB04B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09CE36-5222-7BB2-7244-77218568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 fontScale="90000"/>
          </a:bodyPr>
          <a:lstStyle/>
          <a:p>
            <a:r>
              <a:rPr lang="en-IN" sz="3200"/>
              <a:t>Our Offerings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07EA420-7D75-2EB8-590D-17335AEF0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362944"/>
              </p:ext>
            </p:extLst>
          </p:nvPr>
        </p:nvGraphicFramePr>
        <p:xfrm>
          <a:off x="924560" y="1345330"/>
          <a:ext cx="10048240" cy="468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571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59F2-E9AF-925B-2732-6B83D4DD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82D27-FBC3-753A-688F-A4139A1C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Customizable </a:t>
            </a: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Dashboards</a:t>
            </a:r>
            <a:endParaRPr lang="en-IN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8B7FC-9AE1-056E-C47F-925DDA30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471" y="1497730"/>
            <a:ext cx="10636799" cy="4979270"/>
          </a:xfrm>
        </p:spPr>
        <p:txBody>
          <a:bodyPr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What are Dashboards?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Pre-configured data visualizations to capture and analyse Comcast Benefits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Centralizes data from diverse sources for streamlined insights.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Supports stakeholders with KPIs, trend analysis, and drill-down capabilities.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Key Features: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Diversity of Data: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Detailed insights from medical, pharmacy, eligibility, and more.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KPI Tracking: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Pre-built KPIs for faster analysis.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Filters: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Slice data for specific populations of interest.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Drilldowns: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Generate insights with multiple levels of granularity.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Masking: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Ensures PII and PHI security for small populations (&lt;20).</a:t>
            </a:r>
          </a:p>
        </p:txBody>
      </p:sp>
    </p:spTree>
    <p:extLst>
      <p:ext uri="{BB962C8B-B14F-4D97-AF65-F5344CB8AC3E}">
        <p14:creationId xmlns:p14="http://schemas.microsoft.com/office/powerpoint/2010/main" val="138229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263D-97E8-9355-F5B0-BDCDE6E0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1147CA-139D-1B4F-4CF0-85B2E3DF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Dashboard Groups and Examples</a:t>
            </a:r>
            <a:endParaRPr lang="en-IN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40FD5-F222-094E-9628-B54ACC2CD3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471" y="1497730"/>
            <a:ext cx="10636799" cy="49792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Dashboard Groups and Examples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Standard Reports Dashboards: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Medical Utilization: Carrier Breakdown, Demographics, Diagnosis &amp; Procedure Analysis.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Pharmacy Utilization: Drug Class Breakdown, Utilization Trends.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Eligibility and </a:t>
            </a:r>
            <a:r>
              <a:rPr lang="en-IN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Enrollment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Trends, Waived vs Enrolled Analysis.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800" kern="10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Physical Wellbeing Dashboards: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Cancer Screenings: HEDIS Population Reports, Screening Details.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Emergency Room: Diagnosis &amp; Procedure Drilldowns, Monthly Trends.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Admissions: Demographics, Trends, Medical Drilldowns.</a:t>
            </a:r>
          </a:p>
          <a:p>
            <a:pPr marL="57150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17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EDB4-126B-C789-9F20-62CE5FB8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9C6D63-DEC9-B91F-06A7-BD0430A5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Dashboard Groups and Examples</a:t>
            </a:r>
            <a:endParaRPr lang="en-IN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268EC-E3EA-5746-1180-9EAC586D3C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471" y="1497730"/>
            <a:ext cx="10636799" cy="4979270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Dashboard Groups and Examples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High-Cost Claimants: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Overview, Medical Drilldown, Pharmacy Drilldown.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Emotional Wellbeing Dashboards: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a typeface="Aptos" panose="020B0004020202020204" pitchFamily="34" charset="0"/>
                <a:cs typeface="Times New Roman"/>
              </a:rPr>
              <a:t>Behavorial</a:t>
            </a: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 Health: Trends, Utilization Analysis, ComPsych Overview.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Risk Score Dashboards:</a:t>
            </a:r>
            <a:endParaRPr lang="en-IN" sz="1800" b="1" kern="100" dirty="0">
              <a:ea typeface="Aptos" panose="020B0004020202020204" pitchFamily="34" charset="0"/>
              <a:cs typeface="Times New Roman"/>
            </a:endParaRPr>
          </a:p>
          <a:p>
            <a:pPr lvl="1"/>
            <a:r>
              <a:rPr lang="en-US" sz="1800" dirty="0"/>
              <a:t>Milliman’s Risk Management - Person-centric risk profiles.</a:t>
            </a:r>
            <a:endParaRPr lang="en-US" sz="1800" dirty="0">
              <a:cs typeface="Segoe UI"/>
            </a:endParaRPr>
          </a:p>
          <a:p>
            <a:pPr lvl="1"/>
            <a:r>
              <a:rPr lang="en-US" sz="1800" dirty="0"/>
              <a:t>Risk scores to predict outcomes and inform decisions.</a:t>
            </a:r>
            <a:endParaRPr lang="en-US" sz="1800" dirty="0">
              <a:cs typeface="Segoe UI"/>
            </a:endParaRPr>
          </a:p>
          <a:p>
            <a:pPr lvl="1"/>
            <a:r>
              <a:rPr lang="en-US" sz="1800" dirty="0"/>
              <a:t>Analyze acute, chronic, and social risk drivers.</a:t>
            </a:r>
            <a:endParaRPr lang="en-US" sz="1800" dirty="0">
              <a:cs typeface="Segoe UI"/>
            </a:endParaRPr>
          </a:p>
          <a:p>
            <a:pPr lvl="1"/>
            <a:r>
              <a:rPr lang="en-US" sz="1800" dirty="0"/>
              <a:t>Identify emergency visit risks and community-specific factors.</a:t>
            </a:r>
            <a:endParaRPr lang="en-US" sz="1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2224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72D1-3984-9CD6-E2D9-744FF7C1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EDBA1D-C620-6366-C6A0-2E633B07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r>
              <a:rPr lang="en-IN" sz="2400" b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Using Dashboards</a:t>
            </a:r>
            <a:endParaRPr lang="en-IN" sz="3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D8E1F-F462-C03E-249A-026A1D4FF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471" y="1497730"/>
            <a:ext cx="10636799" cy="4979270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a typeface="Aptos" panose="020B0004020202020204" pitchFamily="34" charset="0"/>
                <a:cs typeface="Times New Roman" panose="02020603050405020304" pitchFamily="18" charset="0"/>
              </a:rPr>
              <a:t>You can</a:t>
            </a: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Export Dashboards: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Export as PowerPoint or PDF for presentations.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Export specific data visuals to Excel for deeper analysis.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Example Use Cases: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 Utilization: Access via Physical Wellbeing &gt; Emergency Room Overview.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Admissions: Navigate to Physical Wellbeing &gt; Admissions &gt; Monthly Trends.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Cancer Screenings: Physical Wellbeing &gt; Cancer Screenings Overview.</a:t>
            </a:r>
          </a:p>
        </p:txBody>
      </p:sp>
    </p:spTree>
    <p:extLst>
      <p:ext uri="{BB962C8B-B14F-4D97-AF65-F5344CB8AC3E}">
        <p14:creationId xmlns:p14="http://schemas.microsoft.com/office/powerpoint/2010/main" val="22968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F99C-8B4E-DA4E-ADD3-FCE9181E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F9321-EEEB-46DA-FA42-A4D44808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Factory</a:t>
            </a:r>
            <a:endParaRPr lang="en-IN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71E80-4C38-4827-123B-539D85A74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7298" y="1185214"/>
            <a:ext cx="10636799" cy="4979270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What is the Data Factory?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A centralized portal for Comcast’s benefits data from multiple vendors.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Core Functions: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Data Management &amp; Security Control.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User Access Control.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Data Governance and Integrity.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ea typeface="Aptos" panose="020B0004020202020204" pitchFamily="34" charset="0"/>
                <a:cs typeface="Times New Roman"/>
              </a:rPr>
              <a:t>Data Sources &amp; Categories:</a:t>
            </a:r>
            <a:endParaRPr lang="en-IN" sz="1800" kern="100" dirty="0">
              <a:effectLst/>
              <a:ea typeface="Aptos" panose="020B0004020202020204" pitchFamily="34" charset="0"/>
              <a:cs typeface="Times New Roman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Claims: Medical, Pharmacy, Vision, Dental, </a:t>
            </a:r>
            <a:r>
              <a:rPr lang="en-IN" sz="1800" kern="100" dirty="0">
                <a:ea typeface="Aptos" panose="020B0004020202020204" pitchFamily="34" charset="0"/>
                <a:cs typeface="Times New Roman"/>
              </a:rPr>
              <a:t>Behavorial</a:t>
            </a: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 Health.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Eligibility: Members, Benefits.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Diagnostics: Lab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Financial: Retirement, FSAs.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ea typeface="Aptos" panose="020B0004020202020204" pitchFamily="34" charset="0"/>
                <a:cs typeface="Times New Roman"/>
              </a:rPr>
              <a:t>Other Benefits: Diabetes Management, Fertility Referrals.</a:t>
            </a:r>
          </a:p>
        </p:txBody>
      </p:sp>
    </p:spTree>
    <p:extLst>
      <p:ext uri="{BB962C8B-B14F-4D97-AF65-F5344CB8AC3E}">
        <p14:creationId xmlns:p14="http://schemas.microsoft.com/office/powerpoint/2010/main" val="114214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3C1B-469A-320D-942A-E6EAC092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FF4BB5-EC09-47D6-53F3-CEC490B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Factory Features</a:t>
            </a:r>
            <a:endParaRPr lang="en-IN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33788-33E9-FDCA-2329-A32ADF5476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5536" y="1274210"/>
            <a:ext cx="10636799" cy="4979270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Integration Process: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Secure data transfer with vendors.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ETL Workflow ensures data quality, validation, and accuracy.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Dictionary: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Vendor Layouts: Access via Data Factory Module &gt; Vendors &gt; Vendor Details &gt; Layouts.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Curated Tables: Data Factory Module &gt; Curated Data &gt; View Report.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Quality Validation Engine: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Validates files, statistics, formats, and business rules.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Masking: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PII anonymization using SHA256 encryption.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Masked values ensure data safety while preserving metrics integrity.</a:t>
            </a:r>
          </a:p>
        </p:txBody>
      </p:sp>
    </p:spTree>
    <p:extLst>
      <p:ext uri="{BB962C8B-B14F-4D97-AF65-F5344CB8AC3E}">
        <p14:creationId xmlns:p14="http://schemas.microsoft.com/office/powerpoint/2010/main" val="303408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B866-9591-A0C4-CF5A-6F3ACD9C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298B10-57ED-C100-BF03-4C8D96E0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381001"/>
            <a:ext cx="10908038" cy="4196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Insights Studio</a:t>
            </a:r>
            <a:endParaRPr lang="en-IN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2AF8F-2D02-56A3-439A-17797E7A7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5536" y="1208363"/>
            <a:ext cx="10636799" cy="49792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Understanding Insights Studio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user-friendly tool for semi-customized analyses.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Designed for analysts to generate actionable insights across multiple data sources.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Core Components: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Home Page: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Access all data sources and saved analyses.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Query Builder Page: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Metrics: Measure or report key variables.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Member Selection: Define analysis population.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 Period: Set date ranges for analysis.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Granularity: Add segmentation/disaggregation.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Result Page:</a:t>
            </a: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View Analyses, Save/export analyses for offline use.</a:t>
            </a:r>
          </a:p>
        </p:txBody>
      </p:sp>
    </p:spTree>
    <p:extLst>
      <p:ext uri="{BB962C8B-B14F-4D97-AF65-F5344CB8AC3E}">
        <p14:creationId xmlns:p14="http://schemas.microsoft.com/office/powerpoint/2010/main" val="247110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E526-C299-58E5-6221-28541199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056DA0-28E4-E122-3B0F-1884BACA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105104"/>
            <a:ext cx="10908038" cy="419608"/>
          </a:xfrm>
        </p:spPr>
        <p:txBody>
          <a:bodyPr>
            <a:normAutofit/>
          </a:bodyPr>
          <a:lstStyle/>
          <a:p>
            <a:r>
              <a:rPr lang="en-IN" sz="2400" b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Insight Studio- Key Features </a:t>
            </a:r>
            <a:endParaRPr lang="en-IN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BF84D-2AAC-9814-1DCF-656EA7850D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5536" y="1056295"/>
            <a:ext cx="10636799" cy="49792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Custom Insights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Allows users to generate tailored insights by building customized data queries.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Access a complete set of curated medical, pharmacy, and eligibility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Features include interface selections, filters, and segregation identifiers.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Ideal for unique business queries and decision-making.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Accelerated Insights</a:t>
            </a: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Focused on creating insights and visualizations for specialized cohorts.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Examples include: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High-Cost Claimants.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Emergency Room Visits.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Cancer Screenings.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Wellness Visits and Admissions.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IN" sz="18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16481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ognitio">
      <a:dk1>
        <a:srgbClr val="323232"/>
      </a:dk1>
      <a:lt1>
        <a:srgbClr val="FFFFFF"/>
      </a:lt1>
      <a:dk2>
        <a:srgbClr val="323232"/>
      </a:dk2>
      <a:lt2>
        <a:srgbClr val="FFFFFF"/>
      </a:lt2>
      <a:accent1>
        <a:srgbClr val="F17D67"/>
      </a:accent1>
      <a:accent2>
        <a:srgbClr val="F1AB68"/>
      </a:accent2>
      <a:accent3>
        <a:srgbClr val="E3356C"/>
      </a:accent3>
      <a:accent4>
        <a:srgbClr val="ED4F6C"/>
      </a:accent4>
      <a:accent5>
        <a:srgbClr val="D3306A"/>
      </a:accent5>
      <a:accent6>
        <a:srgbClr val="ED4F6C"/>
      </a:accent6>
      <a:hlink>
        <a:srgbClr val="0070C0"/>
      </a:hlink>
      <a:folHlink>
        <a:srgbClr val="D3306A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C_Win32_MW_JS_SL_v2.potx" id="{230A82CA-9023-4220-9E5B-0E652CF31B20}" vid="{96196EC2-C392-482E-BF29-9BD12A626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774</Words>
  <Application>Microsoft Office PowerPoint</Application>
  <PresentationFormat>Widescreen</PresentationFormat>
  <Paragraphs>106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Theme1</vt:lpstr>
      <vt:lpstr>PowerPoint Presentation</vt:lpstr>
      <vt:lpstr>PowerPoint Presentation</vt:lpstr>
      <vt:lpstr>Our Offerings</vt:lpstr>
      <vt:lpstr> Customizable Dashboards</vt:lpstr>
      <vt:lpstr>Dashboard Groups and Examples</vt:lpstr>
      <vt:lpstr>Dashboard Groups and Examples</vt:lpstr>
      <vt:lpstr>Using Dashboards</vt:lpstr>
      <vt:lpstr>Data Factory</vt:lpstr>
      <vt:lpstr>Data Factory Features</vt:lpstr>
      <vt:lpstr>Insights Studio</vt:lpstr>
      <vt:lpstr>Insight Studio- Key Features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Agarwal</dc:creator>
  <cp:lastModifiedBy>Ayushi Shahi</cp:lastModifiedBy>
  <cp:revision>7</cp:revision>
  <dcterms:created xsi:type="dcterms:W3CDTF">2025-01-10T06:08:39Z</dcterms:created>
  <dcterms:modified xsi:type="dcterms:W3CDTF">2025-07-14T17:48:15Z</dcterms:modified>
</cp:coreProperties>
</file>